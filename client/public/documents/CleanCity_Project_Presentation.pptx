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mo" panose="020B0604020202020204" charset="0"/>
      <p:regular r:id="rId13"/>
    </p:embeddedFont>
    <p:embeddedFont>
      <p:font typeface="Arimo Bold" panose="020B0604020202020204" charset="0"/>
      <p:regular r:id="rId14"/>
    </p:embeddedFont>
    <p:embeddedFont>
      <p:font typeface="Arimo Bold Italics" panose="020B0604020202020204" charset="0"/>
      <p:regular r:id="rId15"/>
    </p:embeddedFont>
    <p:embeddedFont>
      <p:font typeface="Microsoft Sans Serif" panose="020B0604020202020204" pitchFamily="34" charset="0"/>
      <p:regular r:id="rId16"/>
    </p:embeddedFont>
    <p:embeddedFont>
      <p:font typeface="MingLiU_HKSCS-ExtB" panose="02020500000000000000" pitchFamily="18" charset="-120"/>
      <p:regular r:id="rId17"/>
    </p:embeddedFont>
    <p:embeddedFont>
      <p:font typeface="Montserrat" panose="020F0502020204030204" pitchFamily="2" charset="0"/>
      <p:regular r:id="rId18"/>
      <p:bold r:id="rId19"/>
      <p:italic r:id="rId20"/>
      <p:boldItalic r:id="rId21"/>
    </p:embeddedFont>
    <p:embeddedFont>
      <p:font typeface="Montserrat Medium" panose="020F0502020204030204" pitchFamily="2" charset="0"/>
      <p:regular r:id="rId22"/>
      <p:italic r:id="rId23"/>
    </p:embeddedFont>
    <p:embeddedFont>
      <p:font typeface="Montserrat Ultra-Bold" panose="020B0604020202020204" charset="0"/>
      <p:regular r:id="rId24"/>
    </p:embeddedFont>
    <p:embeddedFont>
      <p:font typeface="Trebuchet MS Bold" panose="020B0703020202020204" pitchFamily="34" charset="0"/>
      <p:bold r:id="rId25"/>
    </p:embeddedFont>
    <p:embeddedFont>
      <p:font typeface="Trebuchet MS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2" d="100"/>
          <a:sy n="52" d="100"/>
        </p:scale>
        <p:origin x="874"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19490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2808973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18" Type="http://schemas.openxmlformats.org/officeDocument/2006/relationships/image" Target="../media/image16.svg"/><Relationship Id="rId3" Type="http://schemas.openxmlformats.org/officeDocument/2006/relationships/image" Target="../media/image1.svg"/><Relationship Id="rId21" Type="http://schemas.openxmlformats.org/officeDocument/2006/relationships/image" Target="../media/image19.png"/><Relationship Id="rId7" Type="http://schemas.openxmlformats.org/officeDocument/2006/relationships/image" Target="../media/image5.svg"/><Relationship Id="rId12" Type="http://schemas.openxmlformats.org/officeDocument/2006/relationships/image" Target="../media/image10.sv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sv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29.svg"/></Relationships>
</file>

<file path=ppt/slides/_rels/slide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2.sv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32.svg"/><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jpeg"/></Relationships>
</file>

<file path=ppt/slides/_rels/slide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38.gif"/><Relationship Id="rId5" Type="http://schemas.openxmlformats.org/officeDocument/2006/relationships/image" Target="../media/image37.sv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7.svg"/><Relationship Id="rId1" Type="http://schemas.openxmlformats.org/officeDocument/2006/relationships/slideLayout" Target="../slideLayouts/slideLayout7.xml"/><Relationship Id="rId5" Type="http://schemas.openxmlformats.org/officeDocument/2006/relationships/image" Target="../media/image40.gif"/><Relationship Id="rId4" Type="http://schemas.openxmlformats.org/officeDocument/2006/relationships/image" Target="../media/image39.svg"/></Relationships>
</file>

<file path=ppt/slides/_rels/slide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1.sv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44.gif"/><Relationship Id="rId5" Type="http://schemas.openxmlformats.org/officeDocument/2006/relationships/image" Target="../media/image43.jpeg"/><Relationship Id="rId4"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41341">
            <a:off x="445192" y="1915761"/>
            <a:ext cx="1395616" cy="0"/>
          </a:xfrm>
          <a:prstGeom prst="line">
            <a:avLst/>
          </a:prstGeom>
          <a:ln w="19050" cap="rnd">
            <a:solidFill>
              <a:srgbClr val="1CADE4"/>
            </a:solidFill>
            <a:prstDash val="solid"/>
            <a:headEnd type="none" w="sm" len="sm"/>
            <a:tailEnd type="none" w="sm" len="sm"/>
          </a:ln>
        </p:spPr>
      </p:sp>
      <p:grpSp>
        <p:nvGrpSpPr>
          <p:cNvPr id="3" name="Group 3"/>
          <p:cNvGrpSpPr/>
          <p:nvPr/>
        </p:nvGrpSpPr>
        <p:grpSpPr>
          <a:xfrm>
            <a:off x="27211" y="0"/>
            <a:ext cx="18288000" cy="10106025"/>
            <a:chOff x="0" y="0"/>
            <a:chExt cx="24384000" cy="13474700"/>
          </a:xfrm>
        </p:grpSpPr>
        <p:sp>
          <p:nvSpPr>
            <p:cNvPr id="4" name="Freeform 4"/>
            <p:cNvSpPr/>
            <p:nvPr/>
          </p:nvSpPr>
          <p:spPr>
            <a:xfrm>
              <a:off x="0" y="0"/>
              <a:ext cx="24384000" cy="13474700"/>
            </a:xfrm>
            <a:custGeom>
              <a:avLst/>
              <a:gdLst/>
              <a:ahLst/>
              <a:cxnLst/>
              <a:rect l="l" t="t" r="r" b="b"/>
              <a:pathLst>
                <a:path w="24384000" h="13474700">
                  <a:moveTo>
                    <a:pt x="24384000" y="0"/>
                  </a:moveTo>
                  <a:lnTo>
                    <a:pt x="0" y="0"/>
                  </a:lnTo>
                  <a:lnTo>
                    <a:pt x="0" y="13474700"/>
                  </a:lnTo>
                  <a:lnTo>
                    <a:pt x="24384000" y="13474700"/>
                  </a:lnTo>
                  <a:lnTo>
                    <a:pt x="24384000" y="0"/>
                  </a:lnTo>
                  <a:close/>
                </a:path>
              </a:pathLst>
            </a:custGeom>
            <a:solidFill>
              <a:srgbClr val="811712"/>
            </a:solidFill>
          </p:spPr>
        </p:sp>
      </p:grpSp>
      <p:sp>
        <p:nvSpPr>
          <p:cNvPr id="5" name="Freeform 5"/>
          <p:cNvSpPr/>
          <p:nvPr/>
        </p:nvSpPr>
        <p:spPr>
          <a:xfrm>
            <a:off x="8608695" y="87314"/>
            <a:ext cx="4006850" cy="1443831"/>
          </a:xfrm>
          <a:custGeom>
            <a:avLst/>
            <a:gdLst/>
            <a:ahLst/>
            <a:cxnLst/>
            <a:rect l="l" t="t" r="r" b="b"/>
            <a:pathLst>
              <a:path w="4006850" h="1443831">
                <a:moveTo>
                  <a:pt x="0" y="0"/>
                </a:moveTo>
                <a:lnTo>
                  <a:pt x="4006850" y="0"/>
                </a:lnTo>
                <a:lnTo>
                  <a:pt x="4006850" y="1443831"/>
                </a:lnTo>
                <a:lnTo>
                  <a:pt x="0" y="14438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2837794" y="87314"/>
            <a:ext cx="4006850" cy="1443831"/>
          </a:xfrm>
          <a:custGeom>
            <a:avLst/>
            <a:gdLst/>
            <a:ahLst/>
            <a:cxnLst/>
            <a:rect l="l" t="t" r="r" b="b"/>
            <a:pathLst>
              <a:path w="4006850" h="1443831">
                <a:moveTo>
                  <a:pt x="0" y="0"/>
                </a:moveTo>
                <a:lnTo>
                  <a:pt x="4006850" y="0"/>
                </a:lnTo>
                <a:lnTo>
                  <a:pt x="4006850" y="1443831"/>
                </a:lnTo>
                <a:lnTo>
                  <a:pt x="0" y="144383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379595" y="87314"/>
            <a:ext cx="4006850" cy="1443831"/>
          </a:xfrm>
          <a:custGeom>
            <a:avLst/>
            <a:gdLst/>
            <a:ahLst/>
            <a:cxnLst/>
            <a:rect l="l" t="t" r="r" b="b"/>
            <a:pathLst>
              <a:path w="4006850" h="1443831">
                <a:moveTo>
                  <a:pt x="0" y="0"/>
                </a:moveTo>
                <a:lnTo>
                  <a:pt x="4006850" y="0"/>
                </a:lnTo>
                <a:lnTo>
                  <a:pt x="4006850" y="1443831"/>
                </a:lnTo>
                <a:lnTo>
                  <a:pt x="0" y="144383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2266951" y="8024222"/>
            <a:ext cx="4002881" cy="2169319"/>
          </a:xfrm>
          <a:custGeom>
            <a:avLst/>
            <a:gdLst/>
            <a:ahLst/>
            <a:cxnLst/>
            <a:rect l="l" t="t" r="r" b="b"/>
            <a:pathLst>
              <a:path w="4002881" h="2169319">
                <a:moveTo>
                  <a:pt x="0" y="0"/>
                </a:moveTo>
                <a:lnTo>
                  <a:pt x="4002881" y="0"/>
                </a:lnTo>
                <a:lnTo>
                  <a:pt x="4002881" y="2169319"/>
                </a:lnTo>
                <a:lnTo>
                  <a:pt x="0" y="216931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6607254" y="7869594"/>
            <a:ext cx="4002881" cy="2169319"/>
          </a:xfrm>
          <a:custGeom>
            <a:avLst/>
            <a:gdLst/>
            <a:ahLst/>
            <a:cxnLst/>
            <a:rect l="l" t="t" r="r" b="b"/>
            <a:pathLst>
              <a:path w="4002881" h="2169319">
                <a:moveTo>
                  <a:pt x="0" y="0"/>
                </a:moveTo>
                <a:lnTo>
                  <a:pt x="4002881" y="0"/>
                </a:lnTo>
                <a:lnTo>
                  <a:pt x="4002881" y="2169318"/>
                </a:lnTo>
                <a:lnTo>
                  <a:pt x="0" y="216931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a:off x="14954250" y="8024222"/>
            <a:ext cx="3333750" cy="2169319"/>
          </a:xfrm>
          <a:custGeom>
            <a:avLst/>
            <a:gdLst/>
            <a:ahLst/>
            <a:cxnLst/>
            <a:rect l="l" t="t" r="r" b="b"/>
            <a:pathLst>
              <a:path w="3333750" h="2169319">
                <a:moveTo>
                  <a:pt x="0" y="0"/>
                </a:moveTo>
                <a:lnTo>
                  <a:pt x="3333750" y="0"/>
                </a:lnTo>
                <a:lnTo>
                  <a:pt x="3333750" y="2169319"/>
                </a:lnTo>
                <a:lnTo>
                  <a:pt x="0" y="21693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Freeform 11"/>
          <p:cNvSpPr/>
          <p:nvPr/>
        </p:nvSpPr>
        <p:spPr>
          <a:xfrm>
            <a:off x="152401" y="4412502"/>
            <a:ext cx="3928271" cy="3766322"/>
          </a:xfrm>
          <a:custGeom>
            <a:avLst/>
            <a:gdLst/>
            <a:ahLst/>
            <a:cxnLst/>
            <a:rect l="l" t="t" r="r" b="b"/>
            <a:pathLst>
              <a:path w="3928271" h="3766322">
                <a:moveTo>
                  <a:pt x="0" y="0"/>
                </a:moveTo>
                <a:lnTo>
                  <a:pt x="3928271" y="0"/>
                </a:lnTo>
                <a:lnTo>
                  <a:pt x="3928271" y="3766323"/>
                </a:lnTo>
                <a:lnTo>
                  <a:pt x="0" y="3766323"/>
                </a:lnTo>
                <a:lnTo>
                  <a:pt x="0" y="0"/>
                </a:lnTo>
                <a:close/>
              </a:path>
            </a:pathLst>
          </a:custGeom>
          <a:blipFill>
            <a:blip>
              <a:extLst>
                <a:ext uri="{96DAC541-7B7A-43D3-8B79-37D633B846F1}">
                  <asvg:svgBlip xmlns:asvg="http://schemas.microsoft.com/office/drawing/2016/SVG/main" r:embed="rId8"/>
                </a:ext>
              </a:extLst>
            </a:blip>
            <a:stretch>
              <a:fillRect/>
            </a:stretch>
          </a:blipFill>
        </p:spPr>
      </p:sp>
      <p:grpSp>
        <p:nvGrpSpPr>
          <p:cNvPr id="12" name="Group 12"/>
          <p:cNvGrpSpPr/>
          <p:nvPr/>
        </p:nvGrpSpPr>
        <p:grpSpPr>
          <a:xfrm>
            <a:off x="4267597" y="4481045"/>
            <a:ext cx="10927872" cy="2106309"/>
            <a:chOff x="0" y="0"/>
            <a:chExt cx="14570497" cy="2808412"/>
          </a:xfrm>
        </p:grpSpPr>
        <p:sp>
          <p:nvSpPr>
            <p:cNvPr id="13" name="Freeform 13"/>
            <p:cNvSpPr/>
            <p:nvPr/>
          </p:nvSpPr>
          <p:spPr>
            <a:xfrm>
              <a:off x="0" y="0"/>
              <a:ext cx="14569567" cy="2808368"/>
            </a:xfrm>
            <a:custGeom>
              <a:avLst/>
              <a:gdLst/>
              <a:ahLst/>
              <a:cxnLst/>
              <a:rect l="l" t="t" r="r" b="b"/>
              <a:pathLst>
                <a:path w="14569567" h="2808368">
                  <a:moveTo>
                    <a:pt x="7397115" y="0"/>
                  </a:moveTo>
                  <a:lnTo>
                    <a:pt x="7170420" y="0"/>
                  </a:lnTo>
                  <a:lnTo>
                    <a:pt x="6944487" y="3741"/>
                  </a:lnTo>
                  <a:lnTo>
                    <a:pt x="6720840" y="11223"/>
                  </a:lnTo>
                  <a:lnTo>
                    <a:pt x="6501130" y="22446"/>
                  </a:lnTo>
                  <a:lnTo>
                    <a:pt x="6286881" y="37410"/>
                  </a:lnTo>
                  <a:lnTo>
                    <a:pt x="6079617" y="55972"/>
                  </a:lnTo>
                  <a:lnTo>
                    <a:pt x="1202563" y="547918"/>
                  </a:lnTo>
                  <a:lnTo>
                    <a:pt x="1006729" y="569933"/>
                  </a:lnTo>
                  <a:lnTo>
                    <a:pt x="825881" y="594825"/>
                  </a:lnTo>
                  <a:lnTo>
                    <a:pt x="660781" y="622451"/>
                  </a:lnTo>
                  <a:lnTo>
                    <a:pt x="512191" y="652523"/>
                  </a:lnTo>
                  <a:lnTo>
                    <a:pt x="381000" y="684897"/>
                  </a:lnTo>
                  <a:lnTo>
                    <a:pt x="267843" y="719142"/>
                  </a:lnTo>
                  <a:lnTo>
                    <a:pt x="173482" y="755114"/>
                  </a:lnTo>
                  <a:lnTo>
                    <a:pt x="98679" y="792668"/>
                  </a:lnTo>
                  <a:lnTo>
                    <a:pt x="44323" y="831517"/>
                  </a:lnTo>
                  <a:lnTo>
                    <a:pt x="11176" y="871374"/>
                  </a:lnTo>
                  <a:lnTo>
                    <a:pt x="0" y="912093"/>
                  </a:lnTo>
                  <a:lnTo>
                    <a:pt x="0" y="1896418"/>
                  </a:lnTo>
                  <a:lnTo>
                    <a:pt x="11430" y="1936994"/>
                  </a:lnTo>
                  <a:lnTo>
                    <a:pt x="44704" y="1976850"/>
                  </a:lnTo>
                  <a:lnTo>
                    <a:pt x="99187" y="2015699"/>
                  </a:lnTo>
                  <a:lnTo>
                    <a:pt x="174117" y="2053254"/>
                  </a:lnTo>
                  <a:lnTo>
                    <a:pt x="268605" y="2089225"/>
                  </a:lnTo>
                  <a:lnTo>
                    <a:pt x="382016" y="2123470"/>
                  </a:lnTo>
                  <a:lnTo>
                    <a:pt x="513461" y="2155844"/>
                  </a:lnTo>
                  <a:lnTo>
                    <a:pt x="662178" y="2185916"/>
                  </a:lnTo>
                  <a:lnTo>
                    <a:pt x="827405" y="2213542"/>
                  </a:lnTo>
                  <a:lnTo>
                    <a:pt x="1008380" y="2238435"/>
                  </a:lnTo>
                  <a:lnTo>
                    <a:pt x="1204341" y="2260449"/>
                  </a:lnTo>
                  <a:lnTo>
                    <a:pt x="6082030" y="2752396"/>
                  </a:lnTo>
                  <a:lnTo>
                    <a:pt x="6289040" y="2770957"/>
                  </a:lnTo>
                  <a:lnTo>
                    <a:pt x="6503162" y="2785921"/>
                  </a:lnTo>
                  <a:lnTo>
                    <a:pt x="6722745" y="2797144"/>
                  </a:lnTo>
                  <a:lnTo>
                    <a:pt x="6946265" y="2804626"/>
                  </a:lnTo>
                  <a:lnTo>
                    <a:pt x="7172198" y="2808368"/>
                  </a:lnTo>
                  <a:lnTo>
                    <a:pt x="7398893" y="2808368"/>
                  </a:lnTo>
                  <a:lnTo>
                    <a:pt x="7624826" y="2804626"/>
                  </a:lnTo>
                  <a:lnTo>
                    <a:pt x="7848347" y="2797144"/>
                  </a:lnTo>
                  <a:lnTo>
                    <a:pt x="8068056" y="2785921"/>
                  </a:lnTo>
                  <a:lnTo>
                    <a:pt x="8282305" y="2770957"/>
                  </a:lnTo>
                  <a:lnTo>
                    <a:pt x="8489442" y="2752396"/>
                  </a:lnTo>
                  <a:lnTo>
                    <a:pt x="13367131" y="2260449"/>
                  </a:lnTo>
                  <a:lnTo>
                    <a:pt x="13563092" y="2238435"/>
                  </a:lnTo>
                  <a:lnTo>
                    <a:pt x="13744067" y="2213399"/>
                  </a:lnTo>
                  <a:lnTo>
                    <a:pt x="13909167" y="2185773"/>
                  </a:lnTo>
                  <a:lnTo>
                    <a:pt x="14057757" y="2155700"/>
                  </a:lnTo>
                  <a:lnTo>
                    <a:pt x="14189075" y="2123326"/>
                  </a:lnTo>
                  <a:lnTo>
                    <a:pt x="14302232" y="2089081"/>
                  </a:lnTo>
                  <a:lnTo>
                    <a:pt x="14396593" y="2052966"/>
                  </a:lnTo>
                  <a:lnTo>
                    <a:pt x="14471269" y="2015412"/>
                  </a:lnTo>
                  <a:lnTo>
                    <a:pt x="14525498" y="1976562"/>
                  </a:lnTo>
                  <a:lnTo>
                    <a:pt x="14558518" y="1936706"/>
                  </a:lnTo>
                  <a:lnTo>
                    <a:pt x="14569567" y="1895986"/>
                  </a:lnTo>
                  <a:lnTo>
                    <a:pt x="14569567" y="912093"/>
                  </a:lnTo>
                  <a:lnTo>
                    <a:pt x="14558265" y="871374"/>
                  </a:lnTo>
                  <a:lnTo>
                    <a:pt x="14524991" y="831517"/>
                  </a:lnTo>
                  <a:lnTo>
                    <a:pt x="14470507" y="792668"/>
                  </a:lnTo>
                  <a:lnTo>
                    <a:pt x="14395577" y="755114"/>
                  </a:lnTo>
                  <a:lnTo>
                    <a:pt x="14301090" y="719142"/>
                  </a:lnTo>
                  <a:lnTo>
                    <a:pt x="14187678" y="684897"/>
                  </a:lnTo>
                  <a:lnTo>
                    <a:pt x="14056233" y="652667"/>
                  </a:lnTo>
                  <a:lnTo>
                    <a:pt x="13907517" y="622595"/>
                  </a:lnTo>
                  <a:lnTo>
                    <a:pt x="13742290" y="594969"/>
                  </a:lnTo>
                  <a:lnTo>
                    <a:pt x="13561315" y="570076"/>
                  </a:lnTo>
                  <a:lnTo>
                    <a:pt x="13365353" y="548062"/>
                  </a:lnTo>
                  <a:lnTo>
                    <a:pt x="8488045" y="55828"/>
                  </a:lnTo>
                  <a:lnTo>
                    <a:pt x="8280781" y="37266"/>
                  </a:lnTo>
                  <a:lnTo>
                    <a:pt x="8066405" y="22302"/>
                  </a:lnTo>
                  <a:lnTo>
                    <a:pt x="7846695" y="11223"/>
                  </a:lnTo>
                  <a:lnTo>
                    <a:pt x="7623048" y="3741"/>
                  </a:lnTo>
                  <a:lnTo>
                    <a:pt x="7397115" y="0"/>
                  </a:lnTo>
                  <a:close/>
                </a:path>
              </a:pathLst>
            </a:custGeom>
            <a:solidFill>
              <a:srgbClr val="FFFFFF">
                <a:alpha val="9412"/>
              </a:srgbClr>
            </a:solidFill>
          </p:spPr>
        </p:sp>
        <p:sp>
          <p:nvSpPr>
            <p:cNvPr id="14" name="TextBox 14"/>
            <p:cNvSpPr txBox="1"/>
            <p:nvPr/>
          </p:nvSpPr>
          <p:spPr>
            <a:xfrm>
              <a:off x="0" y="-28575"/>
              <a:ext cx="14570497" cy="2836987"/>
            </a:xfrm>
            <a:prstGeom prst="rect">
              <a:avLst/>
            </a:prstGeom>
          </p:spPr>
          <p:txBody>
            <a:bodyPr lIns="50800" tIns="50800" rIns="50800" bIns="50800" rtlCol="0" anchor="t"/>
            <a:lstStyle/>
            <a:p>
              <a:pPr algn="l">
                <a:lnSpc>
                  <a:spcPts val="6839"/>
                </a:lnSpc>
              </a:pPr>
              <a:r>
                <a:rPr lang="en-US" sz="5700">
                  <a:solidFill>
                    <a:srgbClr val="FFFFFF"/>
                  </a:solidFill>
                  <a:latin typeface="Arimo"/>
                </a:rPr>
                <a:t>AI BASED GARBAGE WASTE MANAGEMENT SYSTEM </a:t>
              </a:r>
            </a:p>
          </p:txBody>
        </p:sp>
      </p:grpSp>
      <p:sp>
        <p:nvSpPr>
          <p:cNvPr id="15" name="Freeform 15"/>
          <p:cNvSpPr/>
          <p:nvPr/>
        </p:nvSpPr>
        <p:spPr>
          <a:xfrm>
            <a:off x="12839700" y="4412501"/>
            <a:ext cx="4002881" cy="4340224"/>
          </a:xfrm>
          <a:custGeom>
            <a:avLst/>
            <a:gdLst/>
            <a:ahLst/>
            <a:cxnLst/>
            <a:rect l="l" t="t" r="r" b="b"/>
            <a:pathLst>
              <a:path w="4002881" h="4340224">
                <a:moveTo>
                  <a:pt x="0" y="0"/>
                </a:moveTo>
                <a:lnTo>
                  <a:pt x="4002881" y="0"/>
                </a:lnTo>
                <a:lnTo>
                  <a:pt x="4002881" y="4340224"/>
                </a:lnTo>
                <a:lnTo>
                  <a:pt x="0" y="4340224"/>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6" name="Group 16"/>
          <p:cNvGrpSpPr/>
          <p:nvPr/>
        </p:nvGrpSpPr>
        <p:grpSpPr>
          <a:xfrm>
            <a:off x="17068799" y="4754780"/>
            <a:ext cx="1219200" cy="3655219"/>
            <a:chOff x="0" y="0"/>
            <a:chExt cx="1625600" cy="4873625"/>
          </a:xfrm>
        </p:grpSpPr>
        <p:sp>
          <p:nvSpPr>
            <p:cNvPr id="17" name="Freeform 17"/>
            <p:cNvSpPr/>
            <p:nvPr/>
          </p:nvSpPr>
          <p:spPr>
            <a:xfrm>
              <a:off x="0" y="0"/>
              <a:ext cx="1625600" cy="4873498"/>
            </a:xfrm>
            <a:custGeom>
              <a:avLst/>
              <a:gdLst/>
              <a:ahLst/>
              <a:cxnLst/>
              <a:rect l="l" t="t" r="r" b="b"/>
              <a:pathLst>
                <a:path w="1625600" h="4873498">
                  <a:moveTo>
                    <a:pt x="1625600" y="0"/>
                  </a:moveTo>
                  <a:lnTo>
                    <a:pt x="440436" y="672592"/>
                  </a:lnTo>
                  <a:lnTo>
                    <a:pt x="368681" y="717931"/>
                  </a:lnTo>
                  <a:lnTo>
                    <a:pt x="302514" y="769366"/>
                  </a:lnTo>
                  <a:lnTo>
                    <a:pt x="242062" y="826262"/>
                  </a:lnTo>
                  <a:lnTo>
                    <a:pt x="187706" y="888238"/>
                  </a:lnTo>
                  <a:lnTo>
                    <a:pt x="139573" y="954786"/>
                  </a:lnTo>
                  <a:lnTo>
                    <a:pt x="98044" y="1025398"/>
                  </a:lnTo>
                  <a:lnTo>
                    <a:pt x="63500" y="1099693"/>
                  </a:lnTo>
                  <a:lnTo>
                    <a:pt x="36195" y="1177036"/>
                  </a:lnTo>
                  <a:lnTo>
                    <a:pt x="16256" y="1257046"/>
                  </a:lnTo>
                  <a:lnTo>
                    <a:pt x="4064" y="1339215"/>
                  </a:lnTo>
                  <a:lnTo>
                    <a:pt x="0" y="1423035"/>
                  </a:lnTo>
                  <a:lnTo>
                    <a:pt x="0" y="3451225"/>
                  </a:lnTo>
                  <a:lnTo>
                    <a:pt x="4191" y="3534918"/>
                  </a:lnTo>
                  <a:lnTo>
                    <a:pt x="16383" y="3616960"/>
                  </a:lnTo>
                  <a:lnTo>
                    <a:pt x="36322" y="3696970"/>
                  </a:lnTo>
                  <a:lnTo>
                    <a:pt x="63754" y="3774313"/>
                  </a:lnTo>
                  <a:lnTo>
                    <a:pt x="98425" y="3848481"/>
                  </a:lnTo>
                  <a:lnTo>
                    <a:pt x="139954" y="3919093"/>
                  </a:lnTo>
                  <a:lnTo>
                    <a:pt x="188087" y="3985641"/>
                  </a:lnTo>
                  <a:lnTo>
                    <a:pt x="242570" y="4047617"/>
                  </a:lnTo>
                  <a:lnTo>
                    <a:pt x="303149" y="4104640"/>
                  </a:lnTo>
                  <a:lnTo>
                    <a:pt x="369443" y="4156075"/>
                  </a:lnTo>
                  <a:lnTo>
                    <a:pt x="441198" y="4201541"/>
                  </a:lnTo>
                  <a:lnTo>
                    <a:pt x="1625600" y="4873498"/>
                  </a:lnTo>
                  <a:lnTo>
                    <a:pt x="1625600" y="0"/>
                  </a:lnTo>
                  <a:close/>
                </a:path>
              </a:pathLst>
            </a:custGeom>
            <a:solidFill>
              <a:srgbClr val="FFFFFF">
                <a:alpha val="9412"/>
              </a:srgbClr>
            </a:solidFill>
          </p:spPr>
        </p:sp>
      </p:grpSp>
      <p:sp>
        <p:nvSpPr>
          <p:cNvPr id="18" name="Freeform 18"/>
          <p:cNvSpPr/>
          <p:nvPr/>
        </p:nvSpPr>
        <p:spPr>
          <a:xfrm>
            <a:off x="-366000" y="819670"/>
            <a:ext cx="2040731" cy="4338638"/>
          </a:xfrm>
          <a:custGeom>
            <a:avLst/>
            <a:gdLst/>
            <a:ahLst/>
            <a:cxnLst/>
            <a:rect l="l" t="t" r="r" b="b"/>
            <a:pathLst>
              <a:path w="2040731" h="4338638">
                <a:moveTo>
                  <a:pt x="0" y="0"/>
                </a:moveTo>
                <a:lnTo>
                  <a:pt x="2040731" y="0"/>
                </a:lnTo>
                <a:lnTo>
                  <a:pt x="2040731" y="4338638"/>
                </a:lnTo>
                <a:lnTo>
                  <a:pt x="0" y="4338638"/>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9" name="Freeform 19"/>
          <p:cNvSpPr/>
          <p:nvPr/>
        </p:nvSpPr>
        <p:spPr>
          <a:xfrm>
            <a:off x="6496051" y="819670"/>
            <a:ext cx="4002881" cy="4338638"/>
          </a:xfrm>
          <a:custGeom>
            <a:avLst/>
            <a:gdLst/>
            <a:ahLst/>
            <a:cxnLst/>
            <a:rect l="l" t="t" r="r" b="b"/>
            <a:pathLst>
              <a:path w="4002881" h="4338638">
                <a:moveTo>
                  <a:pt x="0" y="0"/>
                </a:moveTo>
                <a:lnTo>
                  <a:pt x="4002881" y="0"/>
                </a:lnTo>
                <a:lnTo>
                  <a:pt x="4002881" y="4338638"/>
                </a:lnTo>
                <a:lnTo>
                  <a:pt x="0" y="4338638"/>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20" name="Freeform 20"/>
          <p:cNvSpPr/>
          <p:nvPr/>
        </p:nvSpPr>
        <p:spPr>
          <a:xfrm>
            <a:off x="10725150" y="819670"/>
            <a:ext cx="4002881" cy="4338638"/>
          </a:xfrm>
          <a:custGeom>
            <a:avLst/>
            <a:gdLst/>
            <a:ahLst/>
            <a:cxnLst/>
            <a:rect l="l" t="t" r="r" b="b"/>
            <a:pathLst>
              <a:path w="4002881" h="4338638">
                <a:moveTo>
                  <a:pt x="0" y="0"/>
                </a:moveTo>
                <a:lnTo>
                  <a:pt x="4002881" y="0"/>
                </a:lnTo>
                <a:lnTo>
                  <a:pt x="4002881" y="4338638"/>
                </a:lnTo>
                <a:lnTo>
                  <a:pt x="0" y="4338638"/>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21" name="Freeform 21"/>
          <p:cNvSpPr/>
          <p:nvPr/>
        </p:nvSpPr>
        <p:spPr>
          <a:xfrm>
            <a:off x="15697200" y="3676372"/>
            <a:ext cx="2590799" cy="2975769"/>
          </a:xfrm>
          <a:custGeom>
            <a:avLst/>
            <a:gdLst/>
            <a:ahLst/>
            <a:cxnLst/>
            <a:rect l="l" t="t" r="r" b="b"/>
            <a:pathLst>
              <a:path w="2590799" h="2975769">
                <a:moveTo>
                  <a:pt x="0" y="0"/>
                </a:moveTo>
                <a:lnTo>
                  <a:pt x="2590799" y="0"/>
                </a:lnTo>
                <a:lnTo>
                  <a:pt x="2590799" y="2975769"/>
                </a:lnTo>
                <a:lnTo>
                  <a:pt x="0" y="2975769"/>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22" name="Freeform 22"/>
          <p:cNvSpPr/>
          <p:nvPr/>
        </p:nvSpPr>
        <p:spPr>
          <a:xfrm>
            <a:off x="2895600" y="87314"/>
            <a:ext cx="2743994" cy="2821781"/>
          </a:xfrm>
          <a:custGeom>
            <a:avLst/>
            <a:gdLst/>
            <a:ahLst/>
            <a:cxnLst/>
            <a:rect l="l" t="t" r="r" b="b"/>
            <a:pathLst>
              <a:path w="2743994" h="2821781">
                <a:moveTo>
                  <a:pt x="0" y="0"/>
                </a:moveTo>
                <a:lnTo>
                  <a:pt x="2743994" y="0"/>
                </a:lnTo>
                <a:lnTo>
                  <a:pt x="2743994" y="2821781"/>
                </a:lnTo>
                <a:lnTo>
                  <a:pt x="0" y="2821781"/>
                </a:lnTo>
                <a:lnTo>
                  <a:pt x="0" y="0"/>
                </a:lnTo>
                <a:close/>
              </a:path>
            </a:pathLst>
          </a:custGeom>
          <a:blipFill>
            <a:blip>
              <a:extLst>
                <a:ext uri="{96DAC541-7B7A-43D3-8B79-37D633B846F1}">
                  <asvg:svgBlip xmlns:asvg="http://schemas.microsoft.com/office/drawing/2016/SVG/main" r:embed="rId13"/>
                </a:ext>
              </a:extLst>
            </a:blip>
            <a:stretch>
              <a:fillRect/>
            </a:stretch>
          </a:blipFill>
        </p:spPr>
      </p:sp>
      <p:grpSp>
        <p:nvGrpSpPr>
          <p:cNvPr id="23" name="Group 23"/>
          <p:cNvGrpSpPr/>
          <p:nvPr/>
        </p:nvGrpSpPr>
        <p:grpSpPr>
          <a:xfrm>
            <a:off x="-2482677" y="7400076"/>
            <a:ext cx="12214210" cy="3716449"/>
            <a:chOff x="0" y="0"/>
            <a:chExt cx="16285613" cy="4955265"/>
          </a:xfrm>
        </p:grpSpPr>
        <p:sp>
          <p:nvSpPr>
            <p:cNvPr id="24" name="Freeform 24"/>
            <p:cNvSpPr/>
            <p:nvPr/>
          </p:nvSpPr>
          <p:spPr>
            <a:xfrm>
              <a:off x="0" y="0"/>
              <a:ext cx="16278966" cy="4955159"/>
            </a:xfrm>
            <a:custGeom>
              <a:avLst/>
              <a:gdLst/>
              <a:ahLst/>
              <a:cxnLst/>
              <a:rect l="l" t="t" r="r" b="b"/>
              <a:pathLst>
                <a:path w="16278966" h="4955159">
                  <a:moveTo>
                    <a:pt x="2155868" y="0"/>
                  </a:moveTo>
                  <a:lnTo>
                    <a:pt x="1552819" y="6223"/>
                  </a:lnTo>
                  <a:lnTo>
                    <a:pt x="957695" y="24892"/>
                  </a:lnTo>
                  <a:lnTo>
                    <a:pt x="378086" y="55880"/>
                  </a:lnTo>
                  <a:lnTo>
                    <a:pt x="0" y="85471"/>
                  </a:lnTo>
                  <a:lnTo>
                    <a:pt x="0" y="4869307"/>
                  </a:lnTo>
                  <a:lnTo>
                    <a:pt x="381628" y="4899152"/>
                  </a:lnTo>
                  <a:lnTo>
                    <a:pt x="961068" y="4930267"/>
                  </a:lnTo>
                  <a:lnTo>
                    <a:pt x="1556192" y="4948936"/>
                  </a:lnTo>
                  <a:lnTo>
                    <a:pt x="2159241" y="4955159"/>
                  </a:lnTo>
                  <a:lnTo>
                    <a:pt x="2762291" y="4948936"/>
                  </a:lnTo>
                  <a:lnTo>
                    <a:pt x="3357414" y="4930267"/>
                  </a:lnTo>
                  <a:lnTo>
                    <a:pt x="3936855" y="4899152"/>
                  </a:lnTo>
                  <a:lnTo>
                    <a:pt x="4492686" y="4855718"/>
                  </a:lnTo>
                  <a:lnTo>
                    <a:pt x="13947713" y="3987927"/>
                  </a:lnTo>
                  <a:lnTo>
                    <a:pt x="14462396" y="3933063"/>
                  </a:lnTo>
                  <a:lnTo>
                    <a:pt x="14921092" y="3868801"/>
                  </a:lnTo>
                  <a:lnTo>
                    <a:pt x="15319922" y="3796157"/>
                  </a:lnTo>
                  <a:lnTo>
                    <a:pt x="15655006" y="3716147"/>
                  </a:lnTo>
                  <a:lnTo>
                    <a:pt x="15922465" y="3629914"/>
                  </a:lnTo>
                  <a:lnTo>
                    <a:pt x="16118253" y="3538601"/>
                  </a:lnTo>
                  <a:lnTo>
                    <a:pt x="16238324" y="3443224"/>
                  </a:lnTo>
                  <a:lnTo>
                    <a:pt x="16278966" y="3344926"/>
                  </a:lnTo>
                  <a:lnTo>
                    <a:pt x="16278966" y="1609598"/>
                  </a:lnTo>
                  <a:lnTo>
                    <a:pt x="16237649" y="1511300"/>
                  </a:lnTo>
                  <a:lnTo>
                    <a:pt x="16117074" y="1415923"/>
                  </a:lnTo>
                  <a:lnTo>
                    <a:pt x="15920948" y="1324610"/>
                  </a:lnTo>
                  <a:lnTo>
                    <a:pt x="15653152" y="1238504"/>
                  </a:lnTo>
                  <a:lnTo>
                    <a:pt x="15317730" y="1158621"/>
                  </a:lnTo>
                  <a:lnTo>
                    <a:pt x="14918564" y="1086104"/>
                  </a:lnTo>
                  <a:lnTo>
                    <a:pt x="14459699" y="1021969"/>
                  </a:lnTo>
                  <a:lnTo>
                    <a:pt x="13945015" y="967232"/>
                  </a:lnTo>
                  <a:lnTo>
                    <a:pt x="4489819" y="99314"/>
                  </a:lnTo>
                  <a:lnTo>
                    <a:pt x="3933651" y="55880"/>
                  </a:lnTo>
                  <a:lnTo>
                    <a:pt x="3354042" y="24892"/>
                  </a:lnTo>
                  <a:lnTo>
                    <a:pt x="2758918" y="6223"/>
                  </a:lnTo>
                  <a:lnTo>
                    <a:pt x="2155868" y="0"/>
                  </a:lnTo>
                  <a:close/>
                </a:path>
              </a:pathLst>
            </a:custGeom>
            <a:solidFill>
              <a:srgbClr val="811712">
                <a:alpha val="14118"/>
              </a:srgbClr>
            </a:solidFill>
          </p:spPr>
        </p:sp>
        <p:sp>
          <p:nvSpPr>
            <p:cNvPr id="25" name="TextBox 25"/>
            <p:cNvSpPr txBox="1"/>
            <p:nvPr/>
          </p:nvSpPr>
          <p:spPr>
            <a:xfrm>
              <a:off x="0" y="-19050"/>
              <a:ext cx="16285613" cy="4974315"/>
            </a:xfrm>
            <a:prstGeom prst="rect">
              <a:avLst/>
            </a:prstGeom>
          </p:spPr>
          <p:txBody>
            <a:bodyPr lIns="50800" tIns="50800" rIns="50800" bIns="50800" rtlCol="0" anchor="t"/>
            <a:lstStyle/>
            <a:p>
              <a:pPr marL="3309747" lvl="6" indent="-472821">
                <a:lnSpc>
                  <a:spcPts val="3600"/>
                </a:lnSpc>
                <a:buFont typeface="Arial"/>
                <a:buChar char="•"/>
              </a:pPr>
              <a:r>
                <a:rPr lang="en-US" sz="3000" dirty="0">
                  <a:solidFill>
                    <a:srgbClr val="FFFFFF"/>
                  </a:solidFill>
                  <a:latin typeface="Arimo"/>
                </a:rPr>
                <a:t>AKRATI GAUTAM (BCA)</a:t>
              </a:r>
            </a:p>
            <a:p>
              <a:pPr marL="3309747" lvl="6" indent="-472821">
                <a:lnSpc>
                  <a:spcPts val="3600"/>
                </a:lnSpc>
                <a:buFont typeface="Arial"/>
                <a:buChar char="•"/>
              </a:pPr>
              <a:r>
                <a:rPr lang="en-US" sz="3000" dirty="0">
                  <a:solidFill>
                    <a:srgbClr val="FFFFFF"/>
                  </a:solidFill>
                  <a:latin typeface="Arimo"/>
                </a:rPr>
                <a:t>ADITYA SINGH DUMOLIYA (BPT)</a:t>
              </a:r>
            </a:p>
            <a:p>
              <a:pPr marL="3309747" lvl="6" indent="-472821">
                <a:lnSpc>
                  <a:spcPts val="3600"/>
                </a:lnSpc>
                <a:buFont typeface="Arial"/>
                <a:buChar char="•"/>
              </a:pPr>
              <a:r>
                <a:rPr lang="en-US" sz="3000" dirty="0">
                  <a:solidFill>
                    <a:srgbClr val="FFFFFF"/>
                  </a:solidFill>
                  <a:latin typeface="Arimo"/>
                </a:rPr>
                <a:t>DEEPANSHU MANGHNANI (BTECH AI)</a:t>
              </a:r>
            </a:p>
            <a:p>
              <a:pPr marL="3309747" lvl="6" indent="-472821">
                <a:lnSpc>
                  <a:spcPts val="3600"/>
                </a:lnSpc>
                <a:buFont typeface="Arial"/>
                <a:buChar char="•"/>
              </a:pPr>
              <a:r>
                <a:rPr lang="en-US" sz="3000" dirty="0">
                  <a:solidFill>
                    <a:srgbClr val="FFFFFF"/>
                  </a:solidFill>
                  <a:latin typeface="Arimo"/>
                </a:rPr>
                <a:t>VISHAL MEENA (ABM)</a:t>
              </a:r>
            </a:p>
            <a:p>
              <a:pPr marL="3309937" lvl="6" indent="-472848" algn="l">
                <a:lnSpc>
                  <a:spcPts val="3600"/>
                </a:lnSpc>
                <a:buFont typeface="Arial"/>
                <a:buChar char="•"/>
              </a:pPr>
              <a:r>
                <a:rPr lang="en-US" sz="3000" dirty="0">
                  <a:solidFill>
                    <a:srgbClr val="FFFFFF"/>
                  </a:solidFill>
                  <a:latin typeface="Arimo"/>
                </a:rPr>
                <a:t>KHALIFA RABIU MIKO (B.PHARMA)</a:t>
              </a:r>
            </a:p>
          </p:txBody>
        </p:sp>
      </p:grpSp>
      <p:grpSp>
        <p:nvGrpSpPr>
          <p:cNvPr id="26" name="Group 26"/>
          <p:cNvGrpSpPr/>
          <p:nvPr/>
        </p:nvGrpSpPr>
        <p:grpSpPr>
          <a:xfrm>
            <a:off x="11677061" y="6858901"/>
            <a:ext cx="5651405" cy="1225684"/>
            <a:chOff x="0" y="0"/>
            <a:chExt cx="7535207" cy="1634245"/>
          </a:xfrm>
        </p:grpSpPr>
        <p:sp>
          <p:nvSpPr>
            <p:cNvPr id="27" name="Freeform 27"/>
            <p:cNvSpPr/>
            <p:nvPr/>
          </p:nvSpPr>
          <p:spPr>
            <a:xfrm>
              <a:off x="0" y="0"/>
              <a:ext cx="7533640" cy="1633982"/>
            </a:xfrm>
            <a:custGeom>
              <a:avLst/>
              <a:gdLst/>
              <a:ahLst/>
              <a:cxnLst/>
              <a:rect l="l" t="t" r="r" b="b"/>
              <a:pathLst>
                <a:path w="7533640" h="1633982">
                  <a:moveTo>
                    <a:pt x="3766312" y="0"/>
                  </a:moveTo>
                  <a:lnTo>
                    <a:pt x="3446907" y="8255"/>
                  </a:lnTo>
                  <a:lnTo>
                    <a:pt x="3143885" y="32893"/>
                  </a:lnTo>
                  <a:lnTo>
                    <a:pt x="622046" y="318897"/>
                  </a:lnTo>
                  <a:lnTo>
                    <a:pt x="362204" y="358140"/>
                  </a:lnTo>
                  <a:lnTo>
                    <a:pt x="166497" y="408432"/>
                  </a:lnTo>
                  <a:lnTo>
                    <a:pt x="43053" y="466852"/>
                  </a:lnTo>
                  <a:lnTo>
                    <a:pt x="0" y="530733"/>
                  </a:lnTo>
                  <a:lnTo>
                    <a:pt x="0" y="1103122"/>
                  </a:lnTo>
                  <a:lnTo>
                    <a:pt x="43053" y="1167003"/>
                  </a:lnTo>
                  <a:lnTo>
                    <a:pt x="166878" y="1225550"/>
                  </a:lnTo>
                  <a:lnTo>
                    <a:pt x="362966" y="1275842"/>
                  </a:lnTo>
                  <a:lnTo>
                    <a:pt x="622935" y="1315085"/>
                  </a:lnTo>
                  <a:lnTo>
                    <a:pt x="3144901" y="1601343"/>
                  </a:lnTo>
                  <a:lnTo>
                    <a:pt x="3447923" y="1625854"/>
                  </a:lnTo>
                  <a:lnTo>
                    <a:pt x="3767582" y="1633982"/>
                  </a:lnTo>
                  <a:lnTo>
                    <a:pt x="4087114" y="1625854"/>
                  </a:lnTo>
                  <a:lnTo>
                    <a:pt x="4389628" y="1601343"/>
                  </a:lnTo>
                  <a:lnTo>
                    <a:pt x="6912356" y="1315085"/>
                  </a:lnTo>
                  <a:lnTo>
                    <a:pt x="7171817" y="1275715"/>
                  </a:lnTo>
                  <a:lnTo>
                    <a:pt x="7367524" y="1225423"/>
                  </a:lnTo>
                  <a:lnTo>
                    <a:pt x="7490968" y="1166876"/>
                  </a:lnTo>
                  <a:lnTo>
                    <a:pt x="7533640" y="1102995"/>
                  </a:lnTo>
                  <a:lnTo>
                    <a:pt x="7533640" y="530733"/>
                  </a:lnTo>
                  <a:lnTo>
                    <a:pt x="7490587" y="466852"/>
                  </a:lnTo>
                  <a:lnTo>
                    <a:pt x="7366889" y="408305"/>
                  </a:lnTo>
                  <a:lnTo>
                    <a:pt x="7171055" y="358013"/>
                  </a:lnTo>
                  <a:lnTo>
                    <a:pt x="6911594" y="318770"/>
                  </a:lnTo>
                  <a:lnTo>
                    <a:pt x="4388739" y="32893"/>
                  </a:lnTo>
                  <a:lnTo>
                    <a:pt x="4085844" y="8255"/>
                  </a:lnTo>
                  <a:lnTo>
                    <a:pt x="3766312" y="0"/>
                  </a:lnTo>
                  <a:close/>
                </a:path>
              </a:pathLst>
            </a:custGeom>
            <a:solidFill>
              <a:srgbClr val="811712">
                <a:alpha val="14118"/>
              </a:srgbClr>
            </a:solidFill>
          </p:spPr>
        </p:sp>
        <p:sp>
          <p:nvSpPr>
            <p:cNvPr id="28" name="TextBox 28"/>
            <p:cNvSpPr txBox="1"/>
            <p:nvPr/>
          </p:nvSpPr>
          <p:spPr>
            <a:xfrm>
              <a:off x="0" y="-19050"/>
              <a:ext cx="7535207" cy="1653295"/>
            </a:xfrm>
            <a:prstGeom prst="rect">
              <a:avLst/>
            </a:prstGeom>
          </p:spPr>
          <p:txBody>
            <a:bodyPr lIns="50800" tIns="50800" rIns="50800" bIns="50800" rtlCol="0" anchor="t"/>
            <a:lstStyle/>
            <a:p>
              <a:pPr algn="l">
                <a:lnSpc>
                  <a:spcPts val="3600"/>
                </a:lnSpc>
              </a:pPr>
              <a:r>
                <a:rPr lang="en-US" sz="3000" u="sng">
                  <a:solidFill>
                    <a:srgbClr val="FFFF00"/>
                  </a:solidFill>
                  <a:latin typeface="Arimo Bold Italics"/>
                </a:rPr>
                <a:t>PRESENTATION SUBMITTED TO:……</a:t>
              </a:r>
            </a:p>
            <a:p>
              <a:pPr algn="l">
                <a:lnSpc>
                  <a:spcPts val="3600"/>
                </a:lnSpc>
              </a:pPr>
              <a:endParaRPr lang="en-US" sz="3000" u="sng">
                <a:solidFill>
                  <a:srgbClr val="FFFF00"/>
                </a:solidFill>
                <a:latin typeface="Arimo Bold Italics"/>
              </a:endParaRPr>
            </a:p>
          </p:txBody>
        </p:sp>
      </p:grpSp>
      <p:grpSp>
        <p:nvGrpSpPr>
          <p:cNvPr id="29" name="Group 29"/>
          <p:cNvGrpSpPr/>
          <p:nvPr/>
        </p:nvGrpSpPr>
        <p:grpSpPr>
          <a:xfrm>
            <a:off x="11714656" y="8215554"/>
            <a:ext cx="5354141" cy="1042746"/>
            <a:chOff x="-1" y="-28575"/>
            <a:chExt cx="7138855" cy="1390328"/>
          </a:xfrm>
        </p:grpSpPr>
        <p:sp>
          <p:nvSpPr>
            <p:cNvPr id="30" name="Freeform 30"/>
            <p:cNvSpPr/>
            <p:nvPr/>
          </p:nvSpPr>
          <p:spPr>
            <a:xfrm>
              <a:off x="0" y="0"/>
              <a:ext cx="6837166" cy="1361480"/>
            </a:xfrm>
            <a:custGeom>
              <a:avLst/>
              <a:gdLst/>
              <a:ahLst/>
              <a:cxnLst/>
              <a:rect l="l" t="t" r="r" b="b"/>
              <a:pathLst>
                <a:path w="6837166" h="1361480">
                  <a:moveTo>
                    <a:pt x="3418200" y="0"/>
                  </a:moveTo>
                  <a:lnTo>
                    <a:pt x="3128101" y="6862"/>
                  </a:lnTo>
                  <a:lnTo>
                    <a:pt x="2853327" y="27287"/>
                  </a:lnTo>
                  <a:lnTo>
                    <a:pt x="564566" y="265690"/>
                  </a:lnTo>
                  <a:lnTo>
                    <a:pt x="328871" y="298402"/>
                  </a:lnTo>
                  <a:lnTo>
                    <a:pt x="151256" y="340370"/>
                  </a:lnTo>
                  <a:lnTo>
                    <a:pt x="39078" y="389040"/>
                  </a:lnTo>
                  <a:lnTo>
                    <a:pt x="0" y="442178"/>
                  </a:lnTo>
                  <a:lnTo>
                    <a:pt x="0" y="919142"/>
                  </a:lnTo>
                  <a:lnTo>
                    <a:pt x="39232" y="972280"/>
                  </a:lnTo>
                  <a:lnTo>
                    <a:pt x="151716" y="1020950"/>
                  </a:lnTo>
                  <a:lnTo>
                    <a:pt x="329484" y="1063078"/>
                  </a:lnTo>
                  <a:lnTo>
                    <a:pt x="565179" y="1095790"/>
                  </a:lnTo>
                  <a:lnTo>
                    <a:pt x="2854094" y="1334193"/>
                  </a:lnTo>
                  <a:lnTo>
                    <a:pt x="3128868" y="1354618"/>
                  </a:lnTo>
                  <a:lnTo>
                    <a:pt x="3418966" y="1361480"/>
                  </a:lnTo>
                  <a:lnTo>
                    <a:pt x="3709065" y="1354618"/>
                  </a:lnTo>
                  <a:lnTo>
                    <a:pt x="3983839" y="1334193"/>
                  </a:lnTo>
                  <a:lnTo>
                    <a:pt x="6273366" y="1095790"/>
                  </a:lnTo>
                  <a:lnTo>
                    <a:pt x="6508909" y="1063078"/>
                  </a:lnTo>
                  <a:lnTo>
                    <a:pt x="6686524" y="1021110"/>
                  </a:lnTo>
                  <a:lnTo>
                    <a:pt x="6798548" y="972280"/>
                  </a:lnTo>
                  <a:lnTo>
                    <a:pt x="6837166" y="919143"/>
                  </a:lnTo>
                  <a:lnTo>
                    <a:pt x="6837166" y="442178"/>
                  </a:lnTo>
                  <a:lnTo>
                    <a:pt x="6798088" y="389040"/>
                  </a:lnTo>
                  <a:lnTo>
                    <a:pt x="6685911" y="340370"/>
                  </a:lnTo>
                  <a:lnTo>
                    <a:pt x="6508296" y="298402"/>
                  </a:lnTo>
                  <a:lnTo>
                    <a:pt x="6272753" y="265690"/>
                  </a:lnTo>
                  <a:lnTo>
                    <a:pt x="3983073" y="27287"/>
                  </a:lnTo>
                  <a:lnTo>
                    <a:pt x="3708298" y="6862"/>
                  </a:lnTo>
                  <a:lnTo>
                    <a:pt x="3418200" y="0"/>
                  </a:lnTo>
                  <a:close/>
                </a:path>
              </a:pathLst>
            </a:custGeom>
            <a:solidFill>
              <a:srgbClr val="811712">
                <a:alpha val="14118"/>
              </a:srgbClr>
            </a:solidFill>
          </p:spPr>
        </p:sp>
        <p:sp>
          <p:nvSpPr>
            <p:cNvPr id="31" name="TextBox 31"/>
            <p:cNvSpPr txBox="1"/>
            <p:nvPr/>
          </p:nvSpPr>
          <p:spPr>
            <a:xfrm>
              <a:off x="-1" y="-28575"/>
              <a:ext cx="7138855" cy="1390328"/>
            </a:xfrm>
            <a:prstGeom prst="rect">
              <a:avLst/>
            </a:prstGeom>
          </p:spPr>
          <p:txBody>
            <a:bodyPr lIns="50800" tIns="50800" rIns="50800" bIns="50800" rtlCol="0" anchor="t"/>
            <a:lstStyle/>
            <a:p>
              <a:pPr algn="l">
                <a:lnSpc>
                  <a:spcPts val="4200"/>
                </a:lnSpc>
              </a:pPr>
              <a:r>
                <a:rPr lang="en-US" sz="3500" dirty="0">
                  <a:solidFill>
                    <a:srgbClr val="FFFFFF"/>
                  </a:solidFill>
                  <a:latin typeface="Arimo Bold"/>
                </a:rPr>
                <a:t>Er. VISHVENDRA SINGH </a:t>
              </a:r>
            </a:p>
          </p:txBody>
        </p:sp>
      </p:grpSp>
      <p:grpSp>
        <p:nvGrpSpPr>
          <p:cNvPr id="32" name="Group 32"/>
          <p:cNvGrpSpPr/>
          <p:nvPr/>
        </p:nvGrpSpPr>
        <p:grpSpPr>
          <a:xfrm>
            <a:off x="15489554" y="1"/>
            <a:ext cx="2055812" cy="1534724"/>
            <a:chOff x="0" y="0"/>
            <a:chExt cx="2741083" cy="2046299"/>
          </a:xfrm>
        </p:grpSpPr>
        <p:sp>
          <p:nvSpPr>
            <p:cNvPr id="33" name="Freeform 33"/>
            <p:cNvSpPr/>
            <p:nvPr/>
          </p:nvSpPr>
          <p:spPr>
            <a:xfrm>
              <a:off x="0" y="0"/>
              <a:ext cx="2740660" cy="2045716"/>
            </a:xfrm>
            <a:custGeom>
              <a:avLst/>
              <a:gdLst/>
              <a:ahLst/>
              <a:cxnLst/>
              <a:rect l="l" t="t" r="r" b="b"/>
              <a:pathLst>
                <a:path w="2740660" h="2045716">
                  <a:moveTo>
                    <a:pt x="2740660" y="0"/>
                  </a:moveTo>
                  <a:lnTo>
                    <a:pt x="0" y="0"/>
                  </a:lnTo>
                  <a:lnTo>
                    <a:pt x="0" y="1043940"/>
                  </a:lnTo>
                  <a:lnTo>
                    <a:pt x="6985" y="1125093"/>
                  </a:lnTo>
                  <a:lnTo>
                    <a:pt x="27559" y="1202563"/>
                  </a:lnTo>
                  <a:lnTo>
                    <a:pt x="60706" y="1274699"/>
                  </a:lnTo>
                  <a:lnTo>
                    <a:pt x="105410" y="1339977"/>
                  </a:lnTo>
                  <a:lnTo>
                    <a:pt x="160909" y="1396873"/>
                  </a:lnTo>
                  <a:lnTo>
                    <a:pt x="226187" y="1443736"/>
                  </a:lnTo>
                  <a:lnTo>
                    <a:pt x="1143889" y="1983740"/>
                  </a:lnTo>
                  <a:lnTo>
                    <a:pt x="1216406" y="2018157"/>
                  </a:lnTo>
                  <a:lnTo>
                    <a:pt x="1292479" y="2038858"/>
                  </a:lnTo>
                  <a:lnTo>
                    <a:pt x="1370330" y="2045716"/>
                  </a:lnTo>
                  <a:lnTo>
                    <a:pt x="1448181" y="2038858"/>
                  </a:lnTo>
                  <a:lnTo>
                    <a:pt x="1524254" y="2018157"/>
                  </a:lnTo>
                  <a:lnTo>
                    <a:pt x="1596771" y="1983740"/>
                  </a:lnTo>
                  <a:lnTo>
                    <a:pt x="2514092" y="1443736"/>
                  </a:lnTo>
                  <a:lnTo>
                    <a:pt x="2579497" y="1397000"/>
                  </a:lnTo>
                  <a:lnTo>
                    <a:pt x="2635123" y="1340104"/>
                  </a:lnTo>
                  <a:lnTo>
                    <a:pt x="2679954" y="1274826"/>
                  </a:lnTo>
                  <a:lnTo>
                    <a:pt x="2713101" y="1202563"/>
                  </a:lnTo>
                  <a:lnTo>
                    <a:pt x="2733675" y="1125093"/>
                  </a:lnTo>
                  <a:lnTo>
                    <a:pt x="2740660" y="1043940"/>
                  </a:lnTo>
                  <a:lnTo>
                    <a:pt x="2740660" y="0"/>
                  </a:lnTo>
                  <a:close/>
                </a:path>
              </a:pathLst>
            </a:custGeom>
            <a:solidFill>
              <a:srgbClr val="811712">
                <a:alpha val="14118"/>
              </a:srgbClr>
            </a:solidFill>
          </p:spPr>
        </p:sp>
      </p:grpSp>
      <p:sp>
        <p:nvSpPr>
          <p:cNvPr id="34" name="Freeform 34"/>
          <p:cNvSpPr/>
          <p:nvPr/>
        </p:nvSpPr>
        <p:spPr>
          <a:xfrm>
            <a:off x="15693389" y="1"/>
            <a:ext cx="2594609" cy="2394268"/>
          </a:xfrm>
          <a:custGeom>
            <a:avLst/>
            <a:gdLst/>
            <a:ahLst/>
            <a:cxnLst/>
            <a:rect l="l" t="t" r="r" b="b"/>
            <a:pathLst>
              <a:path w="2594609" h="2394268">
                <a:moveTo>
                  <a:pt x="0" y="0"/>
                </a:moveTo>
                <a:lnTo>
                  <a:pt x="2594608" y="0"/>
                </a:lnTo>
                <a:lnTo>
                  <a:pt x="2594608" y="2394268"/>
                </a:lnTo>
                <a:lnTo>
                  <a:pt x="0" y="2394268"/>
                </a:lnTo>
                <a:lnTo>
                  <a:pt x="0" y="0"/>
                </a:lnTo>
                <a:close/>
              </a:path>
            </a:pathLst>
          </a:custGeom>
          <a:blipFill>
            <a:blip r:embed="rId14"/>
            <a:stretch>
              <a:fillRect r="-3188"/>
            </a:stretch>
          </a:blipFill>
        </p:spPr>
      </p:sp>
      <p:sp>
        <p:nvSpPr>
          <p:cNvPr id="35" name="Freeform 35"/>
          <p:cNvSpPr/>
          <p:nvPr/>
        </p:nvSpPr>
        <p:spPr>
          <a:xfrm>
            <a:off x="15800069" y="1"/>
            <a:ext cx="2487930" cy="2291458"/>
          </a:xfrm>
          <a:custGeom>
            <a:avLst/>
            <a:gdLst/>
            <a:ahLst/>
            <a:cxnLst/>
            <a:rect l="l" t="t" r="r" b="b"/>
            <a:pathLst>
              <a:path w="2487930" h="2291458">
                <a:moveTo>
                  <a:pt x="0" y="0"/>
                </a:moveTo>
                <a:lnTo>
                  <a:pt x="2487930" y="0"/>
                </a:lnTo>
                <a:lnTo>
                  <a:pt x="2487930" y="2291459"/>
                </a:lnTo>
                <a:lnTo>
                  <a:pt x="0" y="2291459"/>
                </a:lnTo>
                <a:lnTo>
                  <a:pt x="0" y="0"/>
                </a:lnTo>
                <a:close/>
              </a:path>
            </a:pathLst>
          </a:custGeom>
          <a:blipFill>
            <a:blip r:embed="rId15"/>
            <a:stretch>
              <a:fillRect r="-1929"/>
            </a:stretch>
          </a:blipFill>
        </p:spPr>
      </p:sp>
      <p:grpSp>
        <p:nvGrpSpPr>
          <p:cNvPr id="36" name="Group 36"/>
          <p:cNvGrpSpPr/>
          <p:nvPr/>
        </p:nvGrpSpPr>
        <p:grpSpPr>
          <a:xfrm>
            <a:off x="111441" y="128760"/>
            <a:ext cx="1156492" cy="1352550"/>
            <a:chOff x="0" y="0"/>
            <a:chExt cx="1541990" cy="1803400"/>
          </a:xfrm>
        </p:grpSpPr>
        <p:sp>
          <p:nvSpPr>
            <p:cNvPr id="37" name="Freeform 37"/>
            <p:cNvSpPr/>
            <p:nvPr/>
          </p:nvSpPr>
          <p:spPr>
            <a:xfrm>
              <a:off x="0" y="0"/>
              <a:ext cx="1542161" cy="1803400"/>
            </a:xfrm>
            <a:custGeom>
              <a:avLst/>
              <a:gdLst/>
              <a:ahLst/>
              <a:cxnLst/>
              <a:rect l="l" t="t" r="r" b="b"/>
              <a:pathLst>
                <a:path w="1542161" h="1803400">
                  <a:moveTo>
                    <a:pt x="709803" y="0"/>
                  </a:moveTo>
                  <a:lnTo>
                    <a:pt x="639318" y="9017"/>
                  </a:lnTo>
                  <a:lnTo>
                    <a:pt x="572389" y="36195"/>
                  </a:lnTo>
                  <a:lnTo>
                    <a:pt x="15367" y="352044"/>
                  </a:lnTo>
                  <a:lnTo>
                    <a:pt x="0" y="363601"/>
                  </a:lnTo>
                  <a:lnTo>
                    <a:pt x="0" y="1439545"/>
                  </a:lnTo>
                  <a:lnTo>
                    <a:pt x="15621" y="1451356"/>
                  </a:lnTo>
                  <a:lnTo>
                    <a:pt x="572643" y="1767205"/>
                  </a:lnTo>
                  <a:lnTo>
                    <a:pt x="639572" y="1794383"/>
                  </a:lnTo>
                  <a:lnTo>
                    <a:pt x="710184" y="1803400"/>
                  </a:lnTo>
                  <a:lnTo>
                    <a:pt x="780796" y="1794383"/>
                  </a:lnTo>
                  <a:lnTo>
                    <a:pt x="847725" y="1767205"/>
                  </a:lnTo>
                  <a:lnTo>
                    <a:pt x="1404747" y="1451356"/>
                  </a:lnTo>
                  <a:lnTo>
                    <a:pt x="1462151" y="1408049"/>
                  </a:lnTo>
                  <a:lnTo>
                    <a:pt x="1505331" y="1352550"/>
                  </a:lnTo>
                  <a:lnTo>
                    <a:pt x="1532636" y="1288034"/>
                  </a:lnTo>
                  <a:lnTo>
                    <a:pt x="1542161" y="1217549"/>
                  </a:lnTo>
                  <a:lnTo>
                    <a:pt x="1542161" y="585851"/>
                  </a:lnTo>
                  <a:lnTo>
                    <a:pt x="1532636" y="515366"/>
                  </a:lnTo>
                  <a:lnTo>
                    <a:pt x="1505331" y="450850"/>
                  </a:lnTo>
                  <a:lnTo>
                    <a:pt x="1462024" y="395351"/>
                  </a:lnTo>
                  <a:lnTo>
                    <a:pt x="1404620" y="352044"/>
                  </a:lnTo>
                  <a:lnTo>
                    <a:pt x="847344" y="36195"/>
                  </a:lnTo>
                  <a:lnTo>
                    <a:pt x="780415" y="9017"/>
                  </a:lnTo>
                  <a:lnTo>
                    <a:pt x="709803" y="0"/>
                  </a:lnTo>
                  <a:close/>
                </a:path>
              </a:pathLst>
            </a:custGeom>
            <a:solidFill>
              <a:srgbClr val="812111"/>
            </a:solidFill>
          </p:spPr>
        </p:sp>
      </p:grpSp>
      <p:grpSp>
        <p:nvGrpSpPr>
          <p:cNvPr id="38" name="Group 38"/>
          <p:cNvGrpSpPr/>
          <p:nvPr/>
        </p:nvGrpSpPr>
        <p:grpSpPr>
          <a:xfrm>
            <a:off x="376236" y="961245"/>
            <a:ext cx="263525" cy="66675"/>
            <a:chOff x="0" y="0"/>
            <a:chExt cx="351367" cy="88900"/>
          </a:xfrm>
        </p:grpSpPr>
        <p:sp>
          <p:nvSpPr>
            <p:cNvPr id="39" name="Freeform 39"/>
            <p:cNvSpPr/>
            <p:nvPr/>
          </p:nvSpPr>
          <p:spPr>
            <a:xfrm>
              <a:off x="0" y="0"/>
              <a:ext cx="350520" cy="88900"/>
            </a:xfrm>
            <a:custGeom>
              <a:avLst/>
              <a:gdLst/>
              <a:ahLst/>
              <a:cxnLst/>
              <a:rect l="l" t="t" r="r" b="b"/>
              <a:pathLst>
                <a:path w="350520" h="88900">
                  <a:moveTo>
                    <a:pt x="175768" y="0"/>
                  </a:moveTo>
                  <a:lnTo>
                    <a:pt x="106934" y="5080"/>
                  </a:lnTo>
                  <a:lnTo>
                    <a:pt x="30861" y="22225"/>
                  </a:lnTo>
                  <a:lnTo>
                    <a:pt x="23622" y="23241"/>
                  </a:lnTo>
                  <a:lnTo>
                    <a:pt x="0" y="0"/>
                  </a:lnTo>
                  <a:lnTo>
                    <a:pt x="0" y="20320"/>
                  </a:lnTo>
                  <a:lnTo>
                    <a:pt x="23622" y="43434"/>
                  </a:lnTo>
                  <a:lnTo>
                    <a:pt x="30861" y="42418"/>
                  </a:lnTo>
                  <a:lnTo>
                    <a:pt x="54483" y="35433"/>
                  </a:lnTo>
                  <a:lnTo>
                    <a:pt x="69850" y="32385"/>
                  </a:lnTo>
                  <a:lnTo>
                    <a:pt x="87376" y="28321"/>
                  </a:lnTo>
                  <a:lnTo>
                    <a:pt x="106934" y="25146"/>
                  </a:lnTo>
                  <a:lnTo>
                    <a:pt x="151130" y="21082"/>
                  </a:lnTo>
                  <a:lnTo>
                    <a:pt x="175768" y="20193"/>
                  </a:lnTo>
                  <a:lnTo>
                    <a:pt x="211709" y="22098"/>
                  </a:lnTo>
                  <a:lnTo>
                    <a:pt x="293878" y="46482"/>
                  </a:lnTo>
                  <a:lnTo>
                    <a:pt x="350520" y="88900"/>
                  </a:lnTo>
                  <a:lnTo>
                    <a:pt x="350520" y="68580"/>
                  </a:lnTo>
                  <a:lnTo>
                    <a:pt x="294005" y="26289"/>
                  </a:lnTo>
                  <a:lnTo>
                    <a:pt x="211709" y="2159"/>
                  </a:lnTo>
                  <a:lnTo>
                    <a:pt x="175768" y="0"/>
                  </a:lnTo>
                  <a:close/>
                </a:path>
              </a:pathLst>
            </a:custGeom>
            <a:solidFill>
              <a:srgbClr val="FFFFFF"/>
            </a:solidFill>
          </p:spPr>
        </p:sp>
      </p:grpSp>
      <p:sp>
        <p:nvSpPr>
          <p:cNvPr id="40" name="Freeform 40"/>
          <p:cNvSpPr/>
          <p:nvPr/>
        </p:nvSpPr>
        <p:spPr>
          <a:xfrm>
            <a:off x="370283" y="955292"/>
            <a:ext cx="275431" cy="78581"/>
          </a:xfrm>
          <a:custGeom>
            <a:avLst/>
            <a:gdLst/>
            <a:ahLst/>
            <a:cxnLst/>
            <a:rect l="l" t="t" r="r" b="b"/>
            <a:pathLst>
              <a:path w="275431" h="78581">
                <a:moveTo>
                  <a:pt x="0" y="0"/>
                </a:moveTo>
                <a:lnTo>
                  <a:pt x="275431" y="0"/>
                </a:lnTo>
                <a:lnTo>
                  <a:pt x="275431" y="78581"/>
                </a:lnTo>
                <a:lnTo>
                  <a:pt x="0" y="78581"/>
                </a:lnTo>
                <a:lnTo>
                  <a:pt x="0" y="0"/>
                </a:lnTo>
                <a:close/>
              </a:path>
            </a:pathLst>
          </a:custGeom>
          <a:blipFill>
            <a:blip>
              <a:extLst>
                <a:ext uri="{96DAC541-7B7A-43D3-8B79-37D633B846F1}">
                  <asvg:svgBlip xmlns:asvg="http://schemas.microsoft.com/office/drawing/2016/SVG/main" r:embed="rId16"/>
                </a:ext>
              </a:extLst>
            </a:blip>
            <a:stretch>
              <a:fillRect/>
            </a:stretch>
          </a:blipFill>
        </p:spPr>
      </p:sp>
      <p:grpSp>
        <p:nvGrpSpPr>
          <p:cNvPr id="41" name="Group 41"/>
          <p:cNvGrpSpPr/>
          <p:nvPr/>
        </p:nvGrpSpPr>
        <p:grpSpPr>
          <a:xfrm>
            <a:off x="654366" y="961245"/>
            <a:ext cx="261144" cy="66675"/>
            <a:chOff x="0" y="0"/>
            <a:chExt cx="348192" cy="88900"/>
          </a:xfrm>
        </p:grpSpPr>
        <p:sp>
          <p:nvSpPr>
            <p:cNvPr id="42" name="Freeform 42"/>
            <p:cNvSpPr/>
            <p:nvPr/>
          </p:nvSpPr>
          <p:spPr>
            <a:xfrm>
              <a:off x="0" y="0"/>
              <a:ext cx="347980" cy="88900"/>
            </a:xfrm>
            <a:custGeom>
              <a:avLst/>
              <a:gdLst/>
              <a:ahLst/>
              <a:cxnLst/>
              <a:rect l="l" t="t" r="r" b="b"/>
              <a:pathLst>
                <a:path w="347980" h="88900">
                  <a:moveTo>
                    <a:pt x="347980" y="0"/>
                  </a:moveTo>
                  <a:lnTo>
                    <a:pt x="324485" y="23241"/>
                  </a:lnTo>
                  <a:lnTo>
                    <a:pt x="317373" y="22225"/>
                  </a:lnTo>
                  <a:lnTo>
                    <a:pt x="293878" y="15240"/>
                  </a:lnTo>
                  <a:lnTo>
                    <a:pt x="261239" y="8001"/>
                  </a:lnTo>
                  <a:lnTo>
                    <a:pt x="241808" y="5080"/>
                  </a:lnTo>
                  <a:lnTo>
                    <a:pt x="221361" y="2921"/>
                  </a:lnTo>
                  <a:lnTo>
                    <a:pt x="197993" y="1016"/>
                  </a:lnTo>
                  <a:lnTo>
                    <a:pt x="173482" y="0"/>
                  </a:lnTo>
                  <a:lnTo>
                    <a:pt x="137795" y="2159"/>
                  </a:lnTo>
                  <a:lnTo>
                    <a:pt x="56134" y="26289"/>
                  </a:lnTo>
                  <a:lnTo>
                    <a:pt x="0" y="68580"/>
                  </a:lnTo>
                  <a:lnTo>
                    <a:pt x="0" y="88900"/>
                  </a:lnTo>
                  <a:lnTo>
                    <a:pt x="22479" y="68580"/>
                  </a:lnTo>
                  <a:lnTo>
                    <a:pt x="37846" y="57531"/>
                  </a:lnTo>
                  <a:lnTo>
                    <a:pt x="106172" y="28321"/>
                  </a:lnTo>
                  <a:lnTo>
                    <a:pt x="173482" y="20320"/>
                  </a:lnTo>
                  <a:lnTo>
                    <a:pt x="197993" y="21209"/>
                  </a:lnTo>
                  <a:lnTo>
                    <a:pt x="241808" y="25273"/>
                  </a:lnTo>
                  <a:lnTo>
                    <a:pt x="261112" y="28448"/>
                  </a:lnTo>
                  <a:lnTo>
                    <a:pt x="278511" y="32512"/>
                  </a:lnTo>
                  <a:lnTo>
                    <a:pt x="293751" y="35433"/>
                  </a:lnTo>
                  <a:lnTo>
                    <a:pt x="317246" y="42418"/>
                  </a:lnTo>
                  <a:lnTo>
                    <a:pt x="324358" y="43434"/>
                  </a:lnTo>
                  <a:lnTo>
                    <a:pt x="331470" y="42418"/>
                  </a:lnTo>
                  <a:lnTo>
                    <a:pt x="347980" y="20320"/>
                  </a:lnTo>
                  <a:lnTo>
                    <a:pt x="347980" y="0"/>
                  </a:lnTo>
                  <a:close/>
                </a:path>
              </a:pathLst>
            </a:custGeom>
            <a:solidFill>
              <a:srgbClr val="FFFFFF"/>
            </a:solidFill>
          </p:spPr>
        </p:sp>
      </p:grpSp>
      <p:sp>
        <p:nvSpPr>
          <p:cNvPr id="43" name="Freeform 43"/>
          <p:cNvSpPr/>
          <p:nvPr/>
        </p:nvSpPr>
        <p:spPr>
          <a:xfrm>
            <a:off x="648413" y="955292"/>
            <a:ext cx="273050" cy="78581"/>
          </a:xfrm>
          <a:custGeom>
            <a:avLst/>
            <a:gdLst/>
            <a:ahLst/>
            <a:cxnLst/>
            <a:rect l="l" t="t" r="r" b="b"/>
            <a:pathLst>
              <a:path w="273050" h="78581">
                <a:moveTo>
                  <a:pt x="0" y="0"/>
                </a:moveTo>
                <a:lnTo>
                  <a:pt x="273050" y="0"/>
                </a:lnTo>
                <a:lnTo>
                  <a:pt x="273050" y="78581"/>
                </a:lnTo>
                <a:lnTo>
                  <a:pt x="0" y="78581"/>
                </a:lnTo>
                <a:lnTo>
                  <a:pt x="0" y="0"/>
                </a:lnTo>
                <a:close/>
              </a:path>
            </a:pathLst>
          </a:custGeom>
          <a:blipFill>
            <a:blip>
              <a:extLst>
                <a:ext uri="{96DAC541-7B7A-43D3-8B79-37D633B846F1}">
                  <asvg:svgBlip xmlns:asvg="http://schemas.microsoft.com/office/drawing/2016/SVG/main" r:embed="rId17"/>
                </a:ext>
              </a:extLst>
            </a:blip>
            <a:stretch>
              <a:fillRect/>
            </a:stretch>
          </a:blipFill>
        </p:spPr>
      </p:sp>
      <p:grpSp>
        <p:nvGrpSpPr>
          <p:cNvPr id="44" name="Group 44"/>
          <p:cNvGrpSpPr/>
          <p:nvPr/>
        </p:nvGrpSpPr>
        <p:grpSpPr>
          <a:xfrm>
            <a:off x="376236" y="585960"/>
            <a:ext cx="263525" cy="411956"/>
            <a:chOff x="0" y="0"/>
            <a:chExt cx="351367" cy="549275"/>
          </a:xfrm>
        </p:grpSpPr>
        <p:sp>
          <p:nvSpPr>
            <p:cNvPr id="45" name="Freeform 45"/>
            <p:cNvSpPr/>
            <p:nvPr/>
          </p:nvSpPr>
          <p:spPr>
            <a:xfrm>
              <a:off x="0" y="0"/>
              <a:ext cx="350520" cy="548640"/>
            </a:xfrm>
            <a:custGeom>
              <a:avLst/>
              <a:gdLst/>
              <a:ahLst/>
              <a:cxnLst/>
              <a:rect l="l" t="t" r="r" b="b"/>
              <a:pathLst>
                <a:path w="350520" h="548640">
                  <a:moveTo>
                    <a:pt x="191135" y="0"/>
                  </a:moveTo>
                  <a:lnTo>
                    <a:pt x="175768" y="0"/>
                  </a:lnTo>
                  <a:lnTo>
                    <a:pt x="151130" y="1016"/>
                  </a:lnTo>
                  <a:lnTo>
                    <a:pt x="80137" y="14224"/>
                  </a:lnTo>
                  <a:lnTo>
                    <a:pt x="21590" y="40386"/>
                  </a:lnTo>
                  <a:lnTo>
                    <a:pt x="0" y="68580"/>
                  </a:lnTo>
                  <a:lnTo>
                    <a:pt x="0" y="480060"/>
                  </a:lnTo>
                  <a:lnTo>
                    <a:pt x="23622" y="503301"/>
                  </a:lnTo>
                  <a:lnTo>
                    <a:pt x="30861" y="502285"/>
                  </a:lnTo>
                  <a:lnTo>
                    <a:pt x="54483" y="495046"/>
                  </a:lnTo>
                  <a:lnTo>
                    <a:pt x="69850" y="492125"/>
                  </a:lnTo>
                  <a:lnTo>
                    <a:pt x="151130" y="481076"/>
                  </a:lnTo>
                  <a:lnTo>
                    <a:pt x="175768" y="480060"/>
                  </a:lnTo>
                  <a:lnTo>
                    <a:pt x="211709" y="482219"/>
                  </a:lnTo>
                  <a:lnTo>
                    <a:pt x="293878" y="506349"/>
                  </a:lnTo>
                  <a:lnTo>
                    <a:pt x="350520" y="548640"/>
                  </a:lnTo>
                  <a:lnTo>
                    <a:pt x="350520" y="86741"/>
                  </a:lnTo>
                  <a:lnTo>
                    <a:pt x="298069" y="37211"/>
                  </a:lnTo>
                  <a:lnTo>
                    <a:pt x="233299" y="7239"/>
                  </a:lnTo>
                  <a:lnTo>
                    <a:pt x="219964" y="4064"/>
                  </a:lnTo>
                  <a:lnTo>
                    <a:pt x="191135" y="0"/>
                  </a:lnTo>
                  <a:close/>
                </a:path>
              </a:pathLst>
            </a:custGeom>
            <a:solidFill>
              <a:srgbClr val="FFFFFF"/>
            </a:solidFill>
          </p:spPr>
        </p:sp>
      </p:grpSp>
      <p:sp>
        <p:nvSpPr>
          <p:cNvPr id="46" name="Freeform 46"/>
          <p:cNvSpPr/>
          <p:nvPr/>
        </p:nvSpPr>
        <p:spPr>
          <a:xfrm>
            <a:off x="370283" y="580007"/>
            <a:ext cx="275431" cy="423862"/>
          </a:xfrm>
          <a:custGeom>
            <a:avLst/>
            <a:gdLst/>
            <a:ahLst/>
            <a:cxnLst/>
            <a:rect l="l" t="t" r="r" b="b"/>
            <a:pathLst>
              <a:path w="275431" h="423862">
                <a:moveTo>
                  <a:pt x="0" y="0"/>
                </a:moveTo>
                <a:lnTo>
                  <a:pt x="275431" y="0"/>
                </a:lnTo>
                <a:lnTo>
                  <a:pt x="275431" y="423862"/>
                </a:lnTo>
                <a:lnTo>
                  <a:pt x="0" y="423862"/>
                </a:lnTo>
                <a:lnTo>
                  <a:pt x="0" y="0"/>
                </a:lnTo>
                <a:close/>
              </a:path>
            </a:pathLst>
          </a:custGeom>
          <a:blipFill>
            <a:blip>
              <a:extLst>
                <a:ext uri="{96DAC541-7B7A-43D3-8B79-37D633B846F1}">
                  <asvg:svgBlip xmlns:asvg="http://schemas.microsoft.com/office/drawing/2016/SVG/main" r:embed="rId18"/>
                </a:ext>
              </a:extLst>
            </a:blip>
            <a:stretch>
              <a:fillRect/>
            </a:stretch>
          </a:blipFill>
        </p:spPr>
      </p:sp>
      <p:grpSp>
        <p:nvGrpSpPr>
          <p:cNvPr id="47" name="Group 47"/>
          <p:cNvGrpSpPr/>
          <p:nvPr/>
        </p:nvGrpSpPr>
        <p:grpSpPr>
          <a:xfrm>
            <a:off x="654366" y="585960"/>
            <a:ext cx="261144" cy="411956"/>
            <a:chOff x="0" y="0"/>
            <a:chExt cx="348192" cy="549275"/>
          </a:xfrm>
        </p:grpSpPr>
        <p:sp>
          <p:nvSpPr>
            <p:cNvPr id="48" name="Freeform 48"/>
            <p:cNvSpPr/>
            <p:nvPr/>
          </p:nvSpPr>
          <p:spPr>
            <a:xfrm>
              <a:off x="0" y="0"/>
              <a:ext cx="347980" cy="548640"/>
            </a:xfrm>
            <a:custGeom>
              <a:avLst/>
              <a:gdLst/>
              <a:ahLst/>
              <a:cxnLst/>
              <a:rect l="l" t="t" r="r" b="b"/>
              <a:pathLst>
                <a:path w="347980" h="548640">
                  <a:moveTo>
                    <a:pt x="173482" y="0"/>
                  </a:moveTo>
                  <a:lnTo>
                    <a:pt x="158242" y="0"/>
                  </a:lnTo>
                  <a:lnTo>
                    <a:pt x="129540" y="4064"/>
                  </a:lnTo>
                  <a:lnTo>
                    <a:pt x="52070" y="37211"/>
                  </a:lnTo>
                  <a:lnTo>
                    <a:pt x="0" y="86741"/>
                  </a:lnTo>
                  <a:lnTo>
                    <a:pt x="0" y="548640"/>
                  </a:lnTo>
                  <a:lnTo>
                    <a:pt x="22479" y="528574"/>
                  </a:lnTo>
                  <a:lnTo>
                    <a:pt x="37846" y="517398"/>
                  </a:lnTo>
                  <a:lnTo>
                    <a:pt x="106172" y="488188"/>
                  </a:lnTo>
                  <a:lnTo>
                    <a:pt x="173482" y="480187"/>
                  </a:lnTo>
                  <a:lnTo>
                    <a:pt x="197993" y="481203"/>
                  </a:lnTo>
                  <a:lnTo>
                    <a:pt x="221488" y="483108"/>
                  </a:lnTo>
                  <a:lnTo>
                    <a:pt x="241935" y="485267"/>
                  </a:lnTo>
                  <a:lnTo>
                    <a:pt x="261239" y="488188"/>
                  </a:lnTo>
                  <a:lnTo>
                    <a:pt x="278638" y="492252"/>
                  </a:lnTo>
                  <a:lnTo>
                    <a:pt x="293878" y="495173"/>
                  </a:lnTo>
                  <a:lnTo>
                    <a:pt x="317373" y="502412"/>
                  </a:lnTo>
                  <a:lnTo>
                    <a:pt x="324485" y="503428"/>
                  </a:lnTo>
                  <a:lnTo>
                    <a:pt x="331597" y="502412"/>
                  </a:lnTo>
                  <a:lnTo>
                    <a:pt x="347980" y="480060"/>
                  </a:lnTo>
                  <a:lnTo>
                    <a:pt x="347980" y="68580"/>
                  </a:lnTo>
                  <a:lnTo>
                    <a:pt x="289814" y="22225"/>
                  </a:lnTo>
                  <a:lnTo>
                    <a:pt x="221361" y="2921"/>
                  </a:lnTo>
                  <a:lnTo>
                    <a:pt x="197993" y="1016"/>
                  </a:lnTo>
                  <a:lnTo>
                    <a:pt x="173482" y="0"/>
                  </a:lnTo>
                  <a:close/>
                </a:path>
              </a:pathLst>
            </a:custGeom>
            <a:solidFill>
              <a:srgbClr val="FFFFFF"/>
            </a:solidFill>
          </p:spPr>
        </p:sp>
      </p:grpSp>
      <p:sp>
        <p:nvSpPr>
          <p:cNvPr id="49" name="Freeform 49"/>
          <p:cNvSpPr/>
          <p:nvPr/>
        </p:nvSpPr>
        <p:spPr>
          <a:xfrm>
            <a:off x="648413" y="580007"/>
            <a:ext cx="273050" cy="423862"/>
          </a:xfrm>
          <a:custGeom>
            <a:avLst/>
            <a:gdLst/>
            <a:ahLst/>
            <a:cxnLst/>
            <a:rect l="l" t="t" r="r" b="b"/>
            <a:pathLst>
              <a:path w="273050" h="423862">
                <a:moveTo>
                  <a:pt x="0" y="0"/>
                </a:moveTo>
                <a:lnTo>
                  <a:pt x="273050" y="0"/>
                </a:lnTo>
                <a:lnTo>
                  <a:pt x="273050" y="423862"/>
                </a:lnTo>
                <a:lnTo>
                  <a:pt x="0" y="423862"/>
                </a:lnTo>
                <a:lnTo>
                  <a:pt x="0" y="0"/>
                </a:lnTo>
                <a:close/>
              </a:path>
            </a:pathLst>
          </a:custGeom>
          <a:blipFill>
            <a:blip>
              <a:extLst>
                <a:ext uri="{96DAC541-7B7A-43D3-8B79-37D633B846F1}">
                  <asvg:svgBlip xmlns:asvg="http://schemas.microsoft.com/office/drawing/2016/SVG/main" r:embed="rId19"/>
                </a:ext>
              </a:extLst>
            </a:blip>
            <a:stretch>
              <a:fillRect/>
            </a:stretch>
          </a:blipFill>
        </p:spPr>
      </p:sp>
      <p:sp>
        <p:nvSpPr>
          <p:cNvPr id="50" name="Freeform 50"/>
          <p:cNvSpPr/>
          <p:nvPr/>
        </p:nvSpPr>
        <p:spPr>
          <a:xfrm>
            <a:off x="282891" y="1627995"/>
            <a:ext cx="1726882" cy="1273492"/>
          </a:xfrm>
          <a:custGeom>
            <a:avLst/>
            <a:gdLst/>
            <a:ahLst/>
            <a:cxnLst/>
            <a:rect l="l" t="t" r="r" b="b"/>
            <a:pathLst>
              <a:path w="1726882" h="1273492">
                <a:moveTo>
                  <a:pt x="0" y="0"/>
                </a:moveTo>
                <a:lnTo>
                  <a:pt x="1726883" y="0"/>
                </a:lnTo>
                <a:lnTo>
                  <a:pt x="1726883" y="1273492"/>
                </a:lnTo>
                <a:lnTo>
                  <a:pt x="0" y="1273492"/>
                </a:lnTo>
                <a:lnTo>
                  <a:pt x="0" y="0"/>
                </a:lnTo>
                <a:close/>
              </a:path>
            </a:pathLst>
          </a:custGeom>
          <a:blipFill>
            <a:blip r:embed="rId20"/>
            <a:stretch>
              <a:fillRect r="-200"/>
            </a:stretch>
          </a:blipFill>
        </p:spPr>
      </p:sp>
      <p:sp>
        <p:nvSpPr>
          <p:cNvPr id="51" name="Freeform 51"/>
          <p:cNvSpPr/>
          <p:nvPr/>
        </p:nvSpPr>
        <p:spPr>
          <a:xfrm>
            <a:off x="301941" y="403080"/>
            <a:ext cx="1691640" cy="1238250"/>
          </a:xfrm>
          <a:custGeom>
            <a:avLst/>
            <a:gdLst/>
            <a:ahLst/>
            <a:cxnLst/>
            <a:rect l="l" t="t" r="r" b="b"/>
            <a:pathLst>
              <a:path w="1691640" h="1238250">
                <a:moveTo>
                  <a:pt x="0" y="0"/>
                </a:moveTo>
                <a:lnTo>
                  <a:pt x="1691640" y="0"/>
                </a:lnTo>
                <a:lnTo>
                  <a:pt x="1691640" y="1238250"/>
                </a:lnTo>
                <a:lnTo>
                  <a:pt x="0" y="1238250"/>
                </a:lnTo>
                <a:lnTo>
                  <a:pt x="0" y="0"/>
                </a:lnTo>
                <a:close/>
              </a:path>
            </a:pathLst>
          </a:custGeom>
          <a:blipFill>
            <a:blip r:embed="rId21"/>
            <a:stretch>
              <a:fillRect b="-56"/>
            </a:stretch>
          </a:blipFill>
        </p:spPr>
      </p:sp>
      <p:sp>
        <p:nvSpPr>
          <p:cNvPr id="52" name="TextBox 52"/>
          <p:cNvSpPr txBox="1"/>
          <p:nvPr/>
        </p:nvSpPr>
        <p:spPr>
          <a:xfrm>
            <a:off x="2212181" y="2535046"/>
            <a:ext cx="14497390" cy="936349"/>
          </a:xfrm>
          <a:prstGeom prst="rect">
            <a:avLst/>
          </a:prstGeom>
        </p:spPr>
        <p:txBody>
          <a:bodyPr lIns="0" tIns="0" rIns="0" bIns="0" rtlCol="0" anchor="t">
            <a:spAutoFit/>
          </a:bodyPr>
          <a:lstStyle/>
          <a:p>
            <a:pPr algn="ctr">
              <a:lnSpc>
                <a:spcPts val="7200"/>
              </a:lnSpc>
            </a:pPr>
            <a:r>
              <a:rPr lang="en-US" sz="6000" u="sng" spc="150">
                <a:solidFill>
                  <a:srgbClr val="FFFF00"/>
                </a:solidFill>
                <a:latin typeface="Trebuchet MS Bold Italics"/>
              </a:rPr>
              <a:t>Transdisciplinary project </a:t>
            </a:r>
          </a:p>
        </p:txBody>
      </p:sp>
      <p:sp>
        <p:nvSpPr>
          <p:cNvPr id="53" name="TextBox 53"/>
          <p:cNvSpPr txBox="1"/>
          <p:nvPr/>
        </p:nvSpPr>
        <p:spPr>
          <a:xfrm>
            <a:off x="4456111" y="3469643"/>
            <a:ext cx="9219068" cy="1624845"/>
          </a:xfrm>
          <a:prstGeom prst="rect">
            <a:avLst/>
          </a:prstGeom>
        </p:spPr>
        <p:txBody>
          <a:bodyPr lIns="0" tIns="0" rIns="0" bIns="0" rtlCol="0" anchor="t">
            <a:spAutoFit/>
          </a:bodyPr>
          <a:lstStyle/>
          <a:p>
            <a:pPr algn="ctr">
              <a:lnSpc>
                <a:spcPts val="5399"/>
              </a:lnSpc>
            </a:pPr>
            <a:r>
              <a:rPr lang="en-US" sz="4499" u="sng">
                <a:solidFill>
                  <a:srgbClr val="FFFFFF"/>
                </a:solidFill>
                <a:latin typeface="Trebuchet MS Bold"/>
              </a:rPr>
              <a:t>TITLE </a:t>
            </a:r>
          </a:p>
          <a:p>
            <a:pPr algn="ctr">
              <a:lnSpc>
                <a:spcPts val="5399"/>
              </a:lnSpc>
            </a:pPr>
            <a:endParaRPr lang="en-US" sz="4499" u="sng">
              <a:solidFill>
                <a:srgbClr val="FFFFFF"/>
              </a:solidFill>
              <a:latin typeface="Trebuchet MS Bold"/>
            </a:endParaRPr>
          </a:p>
        </p:txBody>
      </p:sp>
      <p:sp>
        <p:nvSpPr>
          <p:cNvPr id="54" name="TextBox 54"/>
          <p:cNvSpPr txBox="1"/>
          <p:nvPr/>
        </p:nvSpPr>
        <p:spPr>
          <a:xfrm>
            <a:off x="282891" y="6768329"/>
            <a:ext cx="4595336" cy="475516"/>
          </a:xfrm>
          <a:prstGeom prst="rect">
            <a:avLst/>
          </a:prstGeom>
        </p:spPr>
        <p:txBody>
          <a:bodyPr lIns="0" tIns="0" rIns="0" bIns="0" rtlCol="0" anchor="t">
            <a:spAutoFit/>
          </a:bodyPr>
          <a:lstStyle/>
          <a:p>
            <a:pPr algn="l">
              <a:lnSpc>
                <a:spcPts val="3600"/>
              </a:lnSpc>
            </a:pPr>
            <a:r>
              <a:rPr lang="en-US" sz="3000" u="sng">
                <a:solidFill>
                  <a:srgbClr val="FFC000"/>
                </a:solidFill>
                <a:latin typeface="Trebuchet MS Bold Italics"/>
              </a:rPr>
              <a:t>PRESENTATION BY :……</a:t>
            </a:r>
          </a:p>
        </p:txBody>
      </p:sp>
      <p:sp>
        <p:nvSpPr>
          <p:cNvPr id="55" name="Freeform 55"/>
          <p:cNvSpPr/>
          <p:nvPr/>
        </p:nvSpPr>
        <p:spPr>
          <a:xfrm>
            <a:off x="4367034" y="160135"/>
            <a:ext cx="9033510" cy="2028825"/>
          </a:xfrm>
          <a:custGeom>
            <a:avLst/>
            <a:gdLst/>
            <a:ahLst/>
            <a:cxnLst/>
            <a:rect l="l" t="t" r="r" b="b"/>
            <a:pathLst>
              <a:path w="9033510" h="2028825">
                <a:moveTo>
                  <a:pt x="0" y="0"/>
                </a:moveTo>
                <a:lnTo>
                  <a:pt x="9033510" y="0"/>
                </a:lnTo>
                <a:lnTo>
                  <a:pt x="9033510" y="2028825"/>
                </a:lnTo>
                <a:lnTo>
                  <a:pt x="0" y="2028825"/>
                </a:lnTo>
                <a:lnTo>
                  <a:pt x="0" y="0"/>
                </a:lnTo>
                <a:close/>
              </a:path>
            </a:pathLst>
          </a:custGeom>
          <a:blipFill>
            <a:blip r:embed="rId22"/>
            <a:stretch>
              <a:fillRect b="-35"/>
            </a:stretch>
          </a:blipFill>
        </p:spPr>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6021"/>
        </a:solidFill>
        <a:effectLst/>
      </p:bgPr>
    </p:bg>
    <p:spTree>
      <p:nvGrpSpPr>
        <p:cNvPr id="1" name=""/>
        <p:cNvGrpSpPr/>
        <p:nvPr/>
      </p:nvGrpSpPr>
      <p:grpSpPr>
        <a:xfrm>
          <a:off x="0" y="0"/>
          <a:ext cx="0" cy="0"/>
          <a:chOff x="0" y="0"/>
          <a:chExt cx="0" cy="0"/>
        </a:xfrm>
      </p:grpSpPr>
      <p:sp>
        <p:nvSpPr>
          <p:cNvPr id="2" name="Freeform 2"/>
          <p:cNvSpPr/>
          <p:nvPr/>
        </p:nvSpPr>
        <p:spPr>
          <a:xfrm flipH="1" flipV="1">
            <a:off x="1377439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4295896" y="2832021"/>
            <a:ext cx="2321642" cy="2321642"/>
          </a:xfrm>
          <a:custGeom>
            <a:avLst/>
            <a:gdLst/>
            <a:ahLst/>
            <a:cxnLst/>
            <a:rect l="l" t="t" r="r" b="b"/>
            <a:pathLst>
              <a:path w="2321642" h="2321642">
                <a:moveTo>
                  <a:pt x="0" y="0"/>
                </a:moveTo>
                <a:lnTo>
                  <a:pt x="2321642" y="0"/>
                </a:lnTo>
                <a:lnTo>
                  <a:pt x="2321642" y="2321642"/>
                </a:lnTo>
                <a:lnTo>
                  <a:pt x="0" y="2321642"/>
                </a:lnTo>
                <a:lnTo>
                  <a:pt x="0" y="0"/>
                </a:lnTo>
                <a:close/>
              </a:path>
            </a:pathLst>
          </a:custGeom>
          <a:blipFill>
            <a:blip>
              <a:alphaModFix amt="18000"/>
              <a:extLst>
                <a:ext uri="{96DAC541-7B7A-43D3-8B79-37D633B846F1}">
                  <asvg:svgBlip xmlns:asvg="http://schemas.microsoft.com/office/drawing/2016/SVG/main" r:embed="rId3"/>
                </a:ext>
              </a:extLst>
            </a:blip>
            <a:stretch>
              <a:fillRect/>
            </a:stretch>
          </a:blipFill>
        </p:spPr>
      </p:sp>
      <p:sp>
        <p:nvSpPr>
          <p:cNvPr id="4" name="Freeform 4"/>
          <p:cNvSpPr/>
          <p:nvPr/>
        </p:nvSpPr>
        <p:spPr>
          <a:xfrm>
            <a:off x="3403980" y="-4129931"/>
            <a:ext cx="7892092" cy="7892092"/>
          </a:xfrm>
          <a:custGeom>
            <a:avLst/>
            <a:gdLst/>
            <a:ahLst/>
            <a:cxnLst/>
            <a:rect l="l" t="t" r="r" b="b"/>
            <a:pathLst>
              <a:path w="7892092" h="7892092">
                <a:moveTo>
                  <a:pt x="0" y="0"/>
                </a:moveTo>
                <a:lnTo>
                  <a:pt x="7892092" y="0"/>
                </a:lnTo>
                <a:lnTo>
                  <a:pt x="7892092" y="7892092"/>
                </a:lnTo>
                <a:lnTo>
                  <a:pt x="0" y="7892092"/>
                </a:lnTo>
                <a:lnTo>
                  <a:pt x="0" y="0"/>
                </a:lnTo>
                <a:close/>
              </a:path>
            </a:pathLst>
          </a:custGeom>
          <a:blipFill>
            <a:blip>
              <a:alphaModFix amt="13000"/>
              <a:extLst>
                <a:ext uri="{96DAC541-7B7A-43D3-8B79-37D633B846F1}">
                  <asvg:svgBlip xmlns:asvg="http://schemas.microsoft.com/office/drawing/2016/SVG/main" r:embed="rId4"/>
                </a:ext>
              </a:extLst>
            </a:blip>
            <a:stretch>
              <a:fillRect/>
            </a:stretch>
          </a:blipFill>
        </p:spPr>
      </p:sp>
      <p:sp>
        <p:nvSpPr>
          <p:cNvPr id="5" name="Freeform 5"/>
          <p:cNvSpPr/>
          <p:nvPr/>
        </p:nvSpPr>
        <p:spPr>
          <a:xfrm>
            <a:off x="5425779" y="6956275"/>
            <a:ext cx="7892092" cy="7892092"/>
          </a:xfrm>
          <a:custGeom>
            <a:avLst/>
            <a:gdLst/>
            <a:ahLst/>
            <a:cxnLst/>
            <a:rect l="l" t="t" r="r" b="b"/>
            <a:pathLst>
              <a:path w="7892092" h="7892092">
                <a:moveTo>
                  <a:pt x="0" y="0"/>
                </a:moveTo>
                <a:lnTo>
                  <a:pt x="7892092" y="0"/>
                </a:lnTo>
                <a:lnTo>
                  <a:pt x="7892092" y="7892092"/>
                </a:lnTo>
                <a:lnTo>
                  <a:pt x="0" y="7892092"/>
                </a:lnTo>
                <a:lnTo>
                  <a:pt x="0" y="0"/>
                </a:lnTo>
                <a:close/>
              </a:path>
            </a:pathLst>
          </a:custGeom>
          <a:blipFill>
            <a:blip>
              <a:alphaModFix amt="13000"/>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1870019" y="6768950"/>
            <a:ext cx="9495039" cy="949503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9" name="Freeform 9"/>
          <p:cNvSpPr/>
          <p:nvPr/>
        </p:nvSpPr>
        <p:spPr>
          <a:xfrm>
            <a:off x="10931257" y="3483975"/>
            <a:ext cx="5686281" cy="4114800"/>
          </a:xfrm>
          <a:custGeom>
            <a:avLst/>
            <a:gdLst/>
            <a:ahLst/>
            <a:cxnLst/>
            <a:rect l="l" t="t" r="r" b="b"/>
            <a:pathLst>
              <a:path w="5686281" h="4114800">
                <a:moveTo>
                  <a:pt x="0" y="0"/>
                </a:moveTo>
                <a:lnTo>
                  <a:pt x="5686281" y="0"/>
                </a:lnTo>
                <a:lnTo>
                  <a:pt x="568628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a:off x="10177007" y="6219054"/>
            <a:ext cx="1913089" cy="1046982"/>
          </a:xfrm>
          <a:custGeom>
            <a:avLst/>
            <a:gdLst/>
            <a:ahLst/>
            <a:cxnLst/>
            <a:rect l="l" t="t" r="r" b="b"/>
            <a:pathLst>
              <a:path w="1913089" h="1046982">
                <a:moveTo>
                  <a:pt x="0" y="0"/>
                </a:moveTo>
                <a:lnTo>
                  <a:pt x="1913089" y="0"/>
                </a:lnTo>
                <a:lnTo>
                  <a:pt x="1913089" y="1046981"/>
                </a:lnTo>
                <a:lnTo>
                  <a:pt x="0" y="104698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a:off x="1510745" y="3431061"/>
            <a:ext cx="2231375" cy="2342092"/>
          </a:xfrm>
          <a:custGeom>
            <a:avLst/>
            <a:gdLst/>
            <a:ahLst/>
            <a:cxnLst/>
            <a:rect l="l" t="t" r="r" b="b"/>
            <a:pathLst>
              <a:path w="2231375" h="2342092">
                <a:moveTo>
                  <a:pt x="0" y="0"/>
                </a:moveTo>
                <a:lnTo>
                  <a:pt x="2231375" y="0"/>
                </a:lnTo>
                <a:lnTo>
                  <a:pt x="2231375" y="2342092"/>
                </a:lnTo>
                <a:lnTo>
                  <a:pt x="0" y="234209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a:off x="-840825" y="6393809"/>
            <a:ext cx="5367418" cy="4715376"/>
          </a:xfrm>
          <a:custGeom>
            <a:avLst/>
            <a:gdLst/>
            <a:ahLst/>
            <a:cxnLst/>
            <a:rect l="l" t="t" r="r" b="b"/>
            <a:pathLst>
              <a:path w="5367418" h="4715376">
                <a:moveTo>
                  <a:pt x="0" y="0"/>
                </a:moveTo>
                <a:lnTo>
                  <a:pt x="5367418" y="0"/>
                </a:lnTo>
                <a:lnTo>
                  <a:pt x="5367418" y="4715376"/>
                </a:lnTo>
                <a:lnTo>
                  <a:pt x="0" y="471537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TextBox 13"/>
          <p:cNvSpPr txBox="1"/>
          <p:nvPr/>
        </p:nvSpPr>
        <p:spPr>
          <a:xfrm>
            <a:off x="404797" y="501492"/>
            <a:ext cx="17398709" cy="2321004"/>
          </a:xfrm>
          <a:prstGeom prst="rect">
            <a:avLst/>
          </a:prstGeom>
        </p:spPr>
        <p:txBody>
          <a:bodyPr lIns="0" tIns="0" rIns="0" bIns="0" rtlCol="0" anchor="t">
            <a:spAutoFit/>
          </a:bodyPr>
          <a:lstStyle/>
          <a:p>
            <a:pPr>
              <a:lnSpc>
                <a:spcPts val="5884"/>
              </a:lnSpc>
            </a:pPr>
            <a:r>
              <a:rPr lang="en-US" sz="7089" spc="-177">
                <a:solidFill>
                  <a:srgbClr val="FFFFFF"/>
                </a:solidFill>
                <a:latin typeface="Montserrat Ultra-Bold"/>
              </a:rPr>
              <a:t>DISCUSSION – ISSUE WITH CONVENTIONAL WASTE MANAGEMENT SYSTEM</a:t>
            </a:r>
          </a:p>
        </p:txBody>
      </p:sp>
      <p:grpSp>
        <p:nvGrpSpPr>
          <p:cNvPr id="14" name="Group 14"/>
          <p:cNvGrpSpPr/>
          <p:nvPr/>
        </p:nvGrpSpPr>
        <p:grpSpPr>
          <a:xfrm>
            <a:off x="-2656342" y="-4747519"/>
            <a:ext cx="9495039" cy="949503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17" name="AutoShape 17"/>
          <p:cNvSpPr/>
          <p:nvPr/>
        </p:nvSpPr>
        <p:spPr>
          <a:xfrm>
            <a:off x="2031877" y="2280838"/>
            <a:ext cx="692523" cy="0"/>
          </a:xfrm>
          <a:prstGeom prst="line">
            <a:avLst/>
          </a:prstGeom>
          <a:ln w="47625" cap="flat">
            <a:solidFill>
              <a:srgbClr val="FFBD59"/>
            </a:solidFill>
            <a:prstDash val="solid"/>
            <a:headEnd type="none" w="sm" len="sm"/>
            <a:tailEnd type="none" w="sm" len="sm"/>
          </a:ln>
        </p:spPr>
      </p:sp>
      <p:grpSp>
        <p:nvGrpSpPr>
          <p:cNvPr id="18" name="Group 18"/>
          <p:cNvGrpSpPr/>
          <p:nvPr/>
        </p:nvGrpSpPr>
        <p:grpSpPr>
          <a:xfrm>
            <a:off x="11782854" y="8355523"/>
            <a:ext cx="5026084" cy="791948"/>
            <a:chOff x="0" y="0"/>
            <a:chExt cx="2579211" cy="406400"/>
          </a:xfrm>
        </p:grpSpPr>
        <p:sp>
          <p:nvSpPr>
            <p:cNvPr id="19" name="Freeform 19"/>
            <p:cNvSpPr/>
            <p:nvPr/>
          </p:nvSpPr>
          <p:spPr>
            <a:xfrm>
              <a:off x="0" y="0"/>
              <a:ext cx="2579211" cy="406400"/>
            </a:xfrm>
            <a:custGeom>
              <a:avLst/>
              <a:gdLst/>
              <a:ahLst/>
              <a:cxnLst/>
              <a:rect l="l" t="t" r="r" b="b"/>
              <a:pathLst>
                <a:path w="2579211" h="406400">
                  <a:moveTo>
                    <a:pt x="2376011" y="0"/>
                  </a:moveTo>
                  <a:cubicBezTo>
                    <a:pt x="2488235" y="0"/>
                    <a:pt x="2579211" y="90976"/>
                    <a:pt x="2579211" y="203200"/>
                  </a:cubicBezTo>
                  <a:cubicBezTo>
                    <a:pt x="2579211" y="315424"/>
                    <a:pt x="2488235" y="406400"/>
                    <a:pt x="2376011"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20" name="TextBox 20"/>
            <p:cNvSpPr txBox="1"/>
            <p:nvPr/>
          </p:nvSpPr>
          <p:spPr>
            <a:xfrm>
              <a:off x="0" y="-38100"/>
              <a:ext cx="2579211" cy="444500"/>
            </a:xfrm>
            <a:prstGeom prst="rect">
              <a:avLst/>
            </a:prstGeom>
          </p:spPr>
          <p:txBody>
            <a:bodyPr lIns="50800" tIns="50800" rIns="50800" bIns="50800" rtlCol="0" anchor="ctr"/>
            <a:lstStyle/>
            <a:p>
              <a:pPr algn="ctr">
                <a:lnSpc>
                  <a:spcPts val="3499"/>
                </a:lnSpc>
              </a:pPr>
              <a:r>
                <a:rPr lang="en-US" sz="2499">
                  <a:solidFill>
                    <a:srgbClr val="F56021"/>
                  </a:solidFill>
                  <a:latin typeface="Montserrat Medium"/>
                </a:rPr>
                <a:t>Group 2 </a:t>
              </a:r>
              <a:r>
                <a:rPr lang="en-US" sz="2499">
                  <a:solidFill>
                    <a:srgbClr val="F56021"/>
                  </a:solidFill>
                  <a:latin typeface="Montserrat"/>
                </a:rPr>
                <a:t> | Presentation</a:t>
              </a:r>
            </a:p>
          </p:txBody>
        </p:sp>
      </p:grpSp>
      <p:sp>
        <p:nvSpPr>
          <p:cNvPr id="21" name="TextBox 21"/>
          <p:cNvSpPr txBox="1"/>
          <p:nvPr/>
        </p:nvSpPr>
        <p:spPr>
          <a:xfrm>
            <a:off x="364815" y="2844174"/>
            <a:ext cx="18393326" cy="7223752"/>
          </a:xfrm>
          <a:prstGeom prst="rect">
            <a:avLst/>
          </a:prstGeom>
        </p:spPr>
        <p:txBody>
          <a:bodyPr lIns="0" tIns="0" rIns="0" bIns="0" rtlCol="0" anchor="t">
            <a:spAutoFit/>
          </a:bodyPr>
          <a:lstStyle/>
          <a:p>
            <a:pPr>
              <a:lnSpc>
                <a:spcPts val="5232"/>
              </a:lnSpc>
            </a:pPr>
            <a:r>
              <a:rPr lang="en-US" sz="3737" b="1" dirty="0">
                <a:effectLst>
                  <a:outerShdw blurRad="38100" dist="38100" dir="2700000" algn="tl">
                    <a:srgbClr val="000000">
                      <a:alpha val="43137"/>
                    </a:srgbClr>
                  </a:outerShdw>
                </a:effectLst>
                <a:latin typeface="Montserrat"/>
              </a:rPr>
              <a:t>Conventional waste management systems face challenges such as :</a:t>
            </a:r>
          </a:p>
          <a:p>
            <a:pPr>
              <a:lnSpc>
                <a:spcPts val="5232"/>
              </a:lnSpc>
            </a:pPr>
            <a:r>
              <a:rPr lang="en-US" sz="3737" b="1" dirty="0">
                <a:effectLst>
                  <a:outerShdw blurRad="38100" dist="38100" dir="2700000" algn="tl">
                    <a:srgbClr val="000000">
                      <a:alpha val="43137"/>
                    </a:srgbClr>
                  </a:outerShdw>
                </a:effectLst>
                <a:latin typeface="Montserrat"/>
              </a:rPr>
              <a:t>•over-reliance on landfills</a:t>
            </a:r>
          </a:p>
          <a:p>
            <a:pPr>
              <a:lnSpc>
                <a:spcPts val="5232"/>
              </a:lnSpc>
            </a:pPr>
            <a:r>
              <a:rPr lang="en-US" sz="3737" b="1" dirty="0">
                <a:effectLst>
                  <a:outerShdw blurRad="38100" dist="38100" dir="2700000" algn="tl">
                    <a:srgbClr val="000000">
                      <a:alpha val="43137"/>
                    </a:srgbClr>
                  </a:outerShdw>
                </a:effectLst>
                <a:latin typeface="Montserrat"/>
              </a:rPr>
              <a:t> •environmental pollution</a:t>
            </a:r>
          </a:p>
          <a:p>
            <a:pPr>
              <a:lnSpc>
                <a:spcPts val="5232"/>
              </a:lnSpc>
            </a:pPr>
            <a:r>
              <a:rPr lang="en-US" sz="3737" b="1" dirty="0">
                <a:effectLst>
                  <a:outerShdw blurRad="38100" dist="38100" dir="2700000" algn="tl">
                    <a:srgbClr val="000000">
                      <a:alpha val="43137"/>
                    </a:srgbClr>
                  </a:outerShdw>
                </a:effectLst>
                <a:latin typeface="Montserrat"/>
              </a:rPr>
              <a:t> •inefficient resource utilization</a:t>
            </a:r>
          </a:p>
          <a:p>
            <a:pPr>
              <a:lnSpc>
                <a:spcPts val="5232"/>
              </a:lnSpc>
            </a:pPr>
            <a:r>
              <a:rPr lang="en-US" sz="3737" b="1" dirty="0">
                <a:effectLst>
                  <a:outerShdw blurRad="38100" dist="38100" dir="2700000" algn="tl">
                    <a:srgbClr val="000000">
                      <a:alpha val="43137"/>
                    </a:srgbClr>
                  </a:outerShdw>
                </a:effectLst>
                <a:latin typeface="Montserrat"/>
              </a:rPr>
              <a:t> •limited public awareness</a:t>
            </a:r>
          </a:p>
          <a:p>
            <a:pPr>
              <a:lnSpc>
                <a:spcPts val="5232"/>
              </a:lnSpc>
            </a:pPr>
            <a:r>
              <a:rPr lang="en-US" sz="3737" b="1" dirty="0">
                <a:effectLst>
                  <a:outerShdw blurRad="38100" dist="38100" dir="2700000" algn="tl">
                    <a:srgbClr val="000000">
                      <a:alpha val="43137"/>
                    </a:srgbClr>
                  </a:outerShdw>
                </a:effectLst>
                <a:latin typeface="Montserrat"/>
              </a:rPr>
              <a:t>•inadequate infrastructure</a:t>
            </a:r>
          </a:p>
          <a:p>
            <a:pPr>
              <a:lnSpc>
                <a:spcPts val="5232"/>
              </a:lnSpc>
            </a:pPr>
            <a:r>
              <a:rPr lang="en-US" sz="3737" b="1" dirty="0">
                <a:effectLst>
                  <a:outerShdw blurRad="38100" dist="38100" dir="2700000" algn="tl">
                    <a:srgbClr val="000000">
                      <a:alpha val="43137"/>
                    </a:srgbClr>
                  </a:outerShdw>
                </a:effectLst>
                <a:latin typeface="Montserrat"/>
              </a:rPr>
              <a:t> •hazardous waste management issues</a:t>
            </a:r>
          </a:p>
          <a:p>
            <a:pPr>
              <a:lnSpc>
                <a:spcPts val="5232"/>
              </a:lnSpc>
            </a:pPr>
            <a:r>
              <a:rPr lang="en-US" sz="3737" b="1" dirty="0">
                <a:effectLst>
                  <a:outerShdw blurRad="38100" dist="38100" dir="2700000" algn="tl">
                    <a:srgbClr val="000000">
                      <a:alpha val="43137"/>
                    </a:srgbClr>
                  </a:outerShdw>
                </a:effectLst>
                <a:latin typeface="Montserrat"/>
              </a:rPr>
              <a:t> •rising waste generation</a:t>
            </a:r>
          </a:p>
          <a:p>
            <a:pPr>
              <a:lnSpc>
                <a:spcPts val="5232"/>
              </a:lnSpc>
            </a:pPr>
            <a:r>
              <a:rPr lang="en-US" sz="3737" b="1" dirty="0">
                <a:effectLst>
                  <a:outerShdw blurRad="38100" dist="38100" dir="2700000" algn="tl">
                    <a:srgbClr val="000000">
                      <a:alpha val="43137"/>
                    </a:srgbClr>
                  </a:outerShdw>
                </a:effectLst>
                <a:latin typeface="Montserrat"/>
              </a:rPr>
              <a:t> •economic burden</a:t>
            </a:r>
          </a:p>
          <a:p>
            <a:pPr>
              <a:lnSpc>
                <a:spcPts val="5232"/>
              </a:lnSpc>
            </a:pPr>
            <a:r>
              <a:rPr lang="en-US" sz="3737" b="1" dirty="0">
                <a:effectLst>
                  <a:outerShdw blurRad="38100" dist="38100" dir="2700000" algn="tl">
                    <a:srgbClr val="000000">
                      <a:alpha val="43137"/>
                    </a:srgbClr>
                  </a:outerShdw>
                </a:effectLst>
                <a:latin typeface="Montserrat"/>
              </a:rPr>
              <a:t>•globalization impacts</a:t>
            </a:r>
          </a:p>
          <a:p>
            <a:pPr>
              <a:lnSpc>
                <a:spcPts val="5232"/>
              </a:lnSpc>
            </a:pPr>
            <a:r>
              <a:rPr lang="en-US" sz="3737" b="1" dirty="0">
                <a:effectLst>
                  <a:outerShdw blurRad="38100" dist="38100" dir="2700000" algn="tl">
                    <a:srgbClr val="000000">
                      <a:alpha val="43137"/>
                    </a:srgbClr>
                  </a:outerShdw>
                </a:effectLst>
                <a:latin typeface="Montserrat"/>
              </a:rPr>
              <a:t>•contributions to climate change</a:t>
            </a: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BD59"/>
        </a:solidFill>
        <a:effectLst/>
      </p:bgPr>
    </p:bg>
    <p:spTree>
      <p:nvGrpSpPr>
        <p:cNvPr id="1" name=""/>
        <p:cNvGrpSpPr/>
        <p:nvPr/>
      </p:nvGrpSpPr>
      <p:grpSpPr>
        <a:xfrm>
          <a:off x="0" y="0"/>
          <a:ext cx="0" cy="0"/>
          <a:chOff x="0" y="0"/>
          <a:chExt cx="0" cy="0"/>
        </a:xfrm>
      </p:grpSpPr>
      <p:grpSp>
        <p:nvGrpSpPr>
          <p:cNvPr id="2" name="Group 2"/>
          <p:cNvGrpSpPr/>
          <p:nvPr/>
        </p:nvGrpSpPr>
        <p:grpSpPr>
          <a:xfrm>
            <a:off x="11870019" y="6768950"/>
            <a:ext cx="9495039" cy="94950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2904635" y="-4178734"/>
            <a:ext cx="9495039" cy="949503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flipH="1" flipV="1">
            <a:off x="1377439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840825" y="6393809"/>
            <a:ext cx="5367418" cy="4715376"/>
          </a:xfrm>
          <a:custGeom>
            <a:avLst/>
            <a:gdLst/>
            <a:ahLst/>
            <a:cxnLst/>
            <a:rect l="l" t="t" r="r" b="b"/>
            <a:pathLst>
              <a:path w="5367418" h="4715376">
                <a:moveTo>
                  <a:pt x="0" y="0"/>
                </a:moveTo>
                <a:lnTo>
                  <a:pt x="5367418" y="0"/>
                </a:lnTo>
                <a:lnTo>
                  <a:pt x="5367418" y="4715376"/>
                </a:lnTo>
                <a:lnTo>
                  <a:pt x="0" y="471537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0709925" y="2887101"/>
            <a:ext cx="6128946" cy="5426903"/>
          </a:xfrm>
          <a:custGeom>
            <a:avLst/>
            <a:gdLst/>
            <a:ahLst/>
            <a:cxnLst/>
            <a:rect l="l" t="t" r="r" b="b"/>
            <a:pathLst>
              <a:path w="6128946" h="5426903">
                <a:moveTo>
                  <a:pt x="0" y="0"/>
                </a:moveTo>
                <a:lnTo>
                  <a:pt x="6128945" y="0"/>
                </a:lnTo>
                <a:lnTo>
                  <a:pt x="6128945" y="5426903"/>
                </a:lnTo>
                <a:lnTo>
                  <a:pt x="0" y="54269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467900" y="4126125"/>
            <a:ext cx="10242024" cy="5770811"/>
          </a:xfrm>
          <a:prstGeom prst="rect">
            <a:avLst/>
          </a:prstGeom>
        </p:spPr>
        <p:txBody>
          <a:bodyPr lIns="0" tIns="0" rIns="0" bIns="0" rtlCol="0" anchor="t">
            <a:spAutoFit/>
          </a:bodyPr>
          <a:lstStyle/>
          <a:p>
            <a:pPr>
              <a:lnSpc>
                <a:spcPts val="4962"/>
              </a:lnSpc>
            </a:pPr>
            <a:r>
              <a:rPr lang="en-US" sz="4726" b="1" dirty="0">
                <a:solidFill>
                  <a:srgbClr val="000000"/>
                </a:solidFill>
                <a:effectLst>
                  <a:outerShdw blurRad="38100" dist="38100" dir="2700000" algn="tl">
                    <a:srgbClr val="000000">
                      <a:alpha val="43137"/>
                    </a:srgbClr>
                  </a:outerShdw>
                </a:effectLst>
                <a:latin typeface="Montserrat"/>
              </a:rPr>
              <a:t>1. Smart waste bins</a:t>
            </a:r>
          </a:p>
          <a:p>
            <a:pPr>
              <a:lnSpc>
                <a:spcPts val="4962"/>
              </a:lnSpc>
            </a:pPr>
            <a:r>
              <a:rPr lang="en-US" sz="4726" b="1" dirty="0">
                <a:solidFill>
                  <a:srgbClr val="000000"/>
                </a:solidFill>
                <a:effectLst>
                  <a:outerShdw blurRad="38100" dist="38100" dir="2700000" algn="tl">
                    <a:srgbClr val="000000">
                      <a:alpha val="43137"/>
                    </a:srgbClr>
                  </a:outerShdw>
                </a:effectLst>
                <a:latin typeface="Montserrat"/>
              </a:rPr>
              <a:t>2.Internet of things(IOT) integration</a:t>
            </a:r>
          </a:p>
          <a:p>
            <a:pPr>
              <a:lnSpc>
                <a:spcPts val="4962"/>
              </a:lnSpc>
            </a:pPr>
            <a:r>
              <a:rPr lang="en-US" sz="4726" b="1" dirty="0">
                <a:solidFill>
                  <a:srgbClr val="000000"/>
                </a:solidFill>
                <a:effectLst>
                  <a:outerShdw blurRad="38100" dist="38100" dir="2700000" algn="tl">
                    <a:srgbClr val="000000">
                      <a:alpha val="43137"/>
                    </a:srgbClr>
                  </a:outerShdw>
                </a:effectLst>
                <a:latin typeface="Montserrat"/>
              </a:rPr>
              <a:t>3.Data analysis and predictive modeling</a:t>
            </a:r>
          </a:p>
          <a:p>
            <a:pPr>
              <a:lnSpc>
                <a:spcPts val="4962"/>
              </a:lnSpc>
            </a:pPr>
            <a:r>
              <a:rPr lang="en-US" sz="4726" b="1" dirty="0">
                <a:solidFill>
                  <a:srgbClr val="000000"/>
                </a:solidFill>
                <a:effectLst>
                  <a:outerShdw blurRad="38100" dist="38100" dir="2700000" algn="tl">
                    <a:srgbClr val="000000">
                      <a:alpha val="43137"/>
                    </a:srgbClr>
                  </a:outerShdw>
                </a:effectLst>
                <a:latin typeface="Montserrat"/>
              </a:rPr>
              <a:t>4.Waste-to-energy technology</a:t>
            </a:r>
          </a:p>
          <a:p>
            <a:pPr>
              <a:lnSpc>
                <a:spcPts val="4962"/>
              </a:lnSpc>
            </a:pPr>
            <a:r>
              <a:rPr lang="en-US" sz="4726" b="1" dirty="0">
                <a:solidFill>
                  <a:srgbClr val="000000"/>
                </a:solidFill>
                <a:effectLst>
                  <a:outerShdw blurRad="38100" dist="38100" dir="2700000" algn="tl">
                    <a:srgbClr val="000000">
                      <a:alpha val="43137"/>
                    </a:srgbClr>
                  </a:outerShdw>
                </a:effectLst>
                <a:latin typeface="Montserrat"/>
              </a:rPr>
              <a:t>5.Community engagement and education</a:t>
            </a:r>
          </a:p>
          <a:p>
            <a:pPr>
              <a:lnSpc>
                <a:spcPts val="4962"/>
              </a:lnSpc>
            </a:pPr>
            <a:r>
              <a:rPr lang="en-US" sz="4726" b="1" dirty="0">
                <a:solidFill>
                  <a:srgbClr val="000000"/>
                </a:solidFill>
                <a:effectLst>
                  <a:outerShdw blurRad="38100" dist="38100" dir="2700000" algn="tl">
                    <a:srgbClr val="000000">
                      <a:alpha val="43137"/>
                    </a:srgbClr>
                  </a:outerShdw>
                </a:effectLst>
                <a:latin typeface="Montserrat"/>
              </a:rPr>
              <a:t>6.Circular economy practices</a:t>
            </a:r>
          </a:p>
        </p:txBody>
      </p:sp>
      <p:sp>
        <p:nvSpPr>
          <p:cNvPr id="12" name="Freeform 12"/>
          <p:cNvSpPr/>
          <p:nvPr/>
        </p:nvSpPr>
        <p:spPr>
          <a:xfrm flipV="1">
            <a:off x="5207994" y="-1711614"/>
            <a:ext cx="3261404" cy="3423229"/>
          </a:xfrm>
          <a:custGeom>
            <a:avLst/>
            <a:gdLst/>
            <a:ahLst/>
            <a:cxnLst/>
            <a:rect l="l" t="t" r="r" b="b"/>
            <a:pathLst>
              <a:path w="3261404" h="3423229">
                <a:moveTo>
                  <a:pt x="0" y="3423228"/>
                </a:moveTo>
                <a:lnTo>
                  <a:pt x="3261404" y="3423228"/>
                </a:lnTo>
                <a:lnTo>
                  <a:pt x="3261404" y="0"/>
                </a:lnTo>
                <a:lnTo>
                  <a:pt x="0" y="0"/>
                </a:lnTo>
                <a:lnTo>
                  <a:pt x="0" y="3423228"/>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10512994" y="8751497"/>
            <a:ext cx="3261404" cy="3423229"/>
          </a:xfrm>
          <a:custGeom>
            <a:avLst/>
            <a:gdLst/>
            <a:ahLst/>
            <a:cxnLst/>
            <a:rect l="l" t="t" r="r" b="b"/>
            <a:pathLst>
              <a:path w="3261404" h="3423229">
                <a:moveTo>
                  <a:pt x="0" y="0"/>
                </a:moveTo>
                <a:lnTo>
                  <a:pt x="3261403" y="0"/>
                </a:lnTo>
                <a:lnTo>
                  <a:pt x="3261403" y="3423229"/>
                </a:lnTo>
                <a:lnTo>
                  <a:pt x="0" y="34232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rot="-5400000">
            <a:off x="10079940" y="5972870"/>
            <a:ext cx="1913089" cy="1046982"/>
          </a:xfrm>
          <a:custGeom>
            <a:avLst/>
            <a:gdLst/>
            <a:ahLst/>
            <a:cxnLst/>
            <a:rect l="l" t="t" r="r" b="b"/>
            <a:pathLst>
              <a:path w="1913089" h="1046982">
                <a:moveTo>
                  <a:pt x="0" y="0"/>
                </a:moveTo>
                <a:lnTo>
                  <a:pt x="1913089" y="0"/>
                </a:lnTo>
                <a:lnTo>
                  <a:pt x="1913089" y="1046982"/>
                </a:lnTo>
                <a:lnTo>
                  <a:pt x="0" y="104698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Freeform 15"/>
          <p:cNvSpPr/>
          <p:nvPr/>
        </p:nvSpPr>
        <p:spPr>
          <a:xfrm rot="-5400000">
            <a:off x="15358835" y="3007888"/>
            <a:ext cx="1913089" cy="1046982"/>
          </a:xfrm>
          <a:custGeom>
            <a:avLst/>
            <a:gdLst/>
            <a:ahLst/>
            <a:cxnLst/>
            <a:rect l="l" t="t" r="r" b="b"/>
            <a:pathLst>
              <a:path w="1913089" h="1046982">
                <a:moveTo>
                  <a:pt x="0" y="0"/>
                </a:moveTo>
                <a:lnTo>
                  <a:pt x="1913089" y="0"/>
                </a:lnTo>
                <a:lnTo>
                  <a:pt x="1913089" y="1046981"/>
                </a:lnTo>
                <a:lnTo>
                  <a:pt x="0" y="104698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467900" y="854535"/>
            <a:ext cx="8739203" cy="2738485"/>
          </a:xfrm>
          <a:prstGeom prst="rect">
            <a:avLst/>
          </a:prstGeom>
        </p:spPr>
        <p:txBody>
          <a:bodyPr lIns="0" tIns="0" rIns="0" bIns="0" rtlCol="0" anchor="t">
            <a:spAutoFit/>
          </a:bodyPr>
          <a:lstStyle/>
          <a:p>
            <a:pPr>
              <a:lnSpc>
                <a:spcPts val="6928"/>
              </a:lnSpc>
            </a:pPr>
            <a:r>
              <a:rPr lang="en-US" sz="8347" spc="-208" dirty="0">
                <a:solidFill>
                  <a:srgbClr val="FFFFFF"/>
                </a:solidFill>
                <a:latin typeface="Montserrat Ultra-Bold"/>
              </a:rPr>
              <a:t>THE AIM OF THE PRESENTATION </a:t>
            </a:r>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BD59"/>
        </a:solidFill>
        <a:effectLst/>
      </p:bgPr>
    </p:bg>
    <p:spTree>
      <p:nvGrpSpPr>
        <p:cNvPr id="1" name=""/>
        <p:cNvGrpSpPr/>
        <p:nvPr/>
      </p:nvGrpSpPr>
      <p:grpSpPr>
        <a:xfrm>
          <a:off x="0" y="0"/>
          <a:ext cx="0" cy="0"/>
          <a:chOff x="0" y="0"/>
          <a:chExt cx="0" cy="0"/>
        </a:xfrm>
      </p:grpSpPr>
      <p:grpSp>
        <p:nvGrpSpPr>
          <p:cNvPr id="2" name="Group 2"/>
          <p:cNvGrpSpPr/>
          <p:nvPr/>
        </p:nvGrpSpPr>
        <p:grpSpPr>
          <a:xfrm>
            <a:off x="11870019" y="6768950"/>
            <a:ext cx="9495039" cy="94950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3574159" y="-4671384"/>
            <a:ext cx="9495039" cy="949503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flipH="1" flipV="1">
            <a:off x="1327032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4517054" y="6393809"/>
            <a:ext cx="2321642" cy="2321642"/>
          </a:xfrm>
          <a:custGeom>
            <a:avLst/>
            <a:gdLst/>
            <a:ahLst/>
            <a:cxnLst/>
            <a:rect l="l" t="t" r="r" b="b"/>
            <a:pathLst>
              <a:path w="2321642" h="2321642">
                <a:moveTo>
                  <a:pt x="0" y="0"/>
                </a:moveTo>
                <a:lnTo>
                  <a:pt x="2321642" y="0"/>
                </a:lnTo>
                <a:lnTo>
                  <a:pt x="2321642" y="2321642"/>
                </a:lnTo>
                <a:lnTo>
                  <a:pt x="0" y="2321642"/>
                </a:lnTo>
                <a:lnTo>
                  <a:pt x="0" y="0"/>
                </a:lnTo>
                <a:close/>
              </a:path>
            </a:pathLst>
          </a:custGeom>
          <a:blipFill>
            <a:blip>
              <a:alphaModFix amt="52000"/>
              <a:extLst>
                <a:ext uri="{96DAC541-7B7A-43D3-8B79-37D633B846F1}">
                  <asvg:svgBlip xmlns:asvg="http://schemas.microsoft.com/office/drawing/2016/SVG/main" r:embed="rId4"/>
                </a:ext>
              </a:extLst>
            </a:blip>
            <a:stretch>
              <a:fillRect/>
            </a:stretch>
          </a:blipFill>
        </p:spPr>
      </p:sp>
      <p:sp>
        <p:nvSpPr>
          <p:cNvPr id="11" name="Freeform 11"/>
          <p:cNvSpPr/>
          <p:nvPr/>
        </p:nvSpPr>
        <p:spPr>
          <a:xfrm flipV="1">
            <a:off x="5230241" y="-2394529"/>
            <a:ext cx="3261404" cy="3423229"/>
          </a:xfrm>
          <a:custGeom>
            <a:avLst/>
            <a:gdLst/>
            <a:ahLst/>
            <a:cxnLst/>
            <a:rect l="l" t="t" r="r" b="b"/>
            <a:pathLst>
              <a:path w="3261404" h="3423229">
                <a:moveTo>
                  <a:pt x="0" y="3423229"/>
                </a:moveTo>
                <a:lnTo>
                  <a:pt x="3261404" y="3423229"/>
                </a:lnTo>
                <a:lnTo>
                  <a:pt x="3261404" y="0"/>
                </a:lnTo>
                <a:lnTo>
                  <a:pt x="0" y="0"/>
                </a:lnTo>
                <a:lnTo>
                  <a:pt x="0" y="3423229"/>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a:off x="10512994" y="8751497"/>
            <a:ext cx="3261404" cy="3423229"/>
          </a:xfrm>
          <a:custGeom>
            <a:avLst/>
            <a:gdLst/>
            <a:ahLst/>
            <a:cxnLst/>
            <a:rect l="l" t="t" r="r" b="b"/>
            <a:pathLst>
              <a:path w="3261404" h="3423229">
                <a:moveTo>
                  <a:pt x="0" y="0"/>
                </a:moveTo>
                <a:lnTo>
                  <a:pt x="3261403" y="0"/>
                </a:lnTo>
                <a:lnTo>
                  <a:pt x="3261403" y="3423229"/>
                </a:lnTo>
                <a:lnTo>
                  <a:pt x="0" y="342322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0" y="1152525"/>
            <a:ext cx="16154643" cy="2362021"/>
          </a:xfrm>
          <a:prstGeom prst="rect">
            <a:avLst/>
          </a:prstGeom>
        </p:spPr>
        <p:txBody>
          <a:bodyPr lIns="0" tIns="0" rIns="0" bIns="0" rtlCol="0" anchor="t">
            <a:spAutoFit/>
          </a:bodyPr>
          <a:lstStyle/>
          <a:p>
            <a:pPr>
              <a:lnSpc>
                <a:spcPts val="9158"/>
              </a:lnSpc>
            </a:pPr>
            <a:r>
              <a:rPr lang="en-US" sz="8722" dirty="0">
                <a:solidFill>
                  <a:schemeClr val="tx2">
                    <a:lumMod val="50000"/>
                  </a:schemeClr>
                </a:solidFill>
                <a:latin typeface="Montserrat Ultra-Bold"/>
              </a:rPr>
              <a:t>Concept of AI based waste management system </a:t>
            </a:r>
          </a:p>
        </p:txBody>
      </p:sp>
      <p:sp>
        <p:nvSpPr>
          <p:cNvPr id="15" name="TextBox 15"/>
          <p:cNvSpPr txBox="1"/>
          <p:nvPr/>
        </p:nvSpPr>
        <p:spPr>
          <a:xfrm>
            <a:off x="7299325" y="3644226"/>
            <a:ext cx="9959975" cy="5743175"/>
          </a:xfrm>
          <a:prstGeom prst="rect">
            <a:avLst/>
          </a:prstGeom>
        </p:spPr>
        <p:txBody>
          <a:bodyPr lIns="0" tIns="0" rIns="0" bIns="0" rtlCol="0" anchor="t">
            <a:spAutoFit/>
          </a:bodyPr>
          <a:lstStyle/>
          <a:p>
            <a:pPr>
              <a:lnSpc>
                <a:spcPts val="2954"/>
              </a:lnSpc>
            </a:pPr>
            <a:r>
              <a:rPr lang="en-US" sz="2400" b="1" dirty="0">
                <a:solidFill>
                  <a:srgbClr val="000000"/>
                </a:solidFill>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AI-based garbage waste management system leverages artificial intelligence technologies to optimize and enhance the efficiency of waste management processes. </a:t>
            </a:r>
          </a:p>
          <a:p>
            <a:pPr>
              <a:lnSpc>
                <a:spcPts val="2954"/>
              </a:lnSpc>
            </a:pPr>
            <a:endParaRPr lang="en-US" sz="2400" b="1" dirty="0">
              <a:solidFill>
                <a:srgbClr val="000000"/>
              </a:solidFill>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ts val="2954"/>
              </a:lnSpc>
            </a:pPr>
            <a:r>
              <a:rPr lang="en-US" sz="2400" b="1" dirty="0">
                <a:solidFill>
                  <a:srgbClr val="000000"/>
                </a:solidFill>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This system integrates smart sensors, data analytics, and machine learning algorithms to monitor, categorize, and manage waste effectively. </a:t>
            </a:r>
          </a:p>
          <a:p>
            <a:pPr>
              <a:lnSpc>
                <a:spcPts val="2954"/>
              </a:lnSpc>
            </a:pPr>
            <a:endParaRPr lang="en-US" sz="2400" b="1" dirty="0">
              <a:solidFill>
                <a:srgbClr val="000000"/>
              </a:solidFill>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ts val="2954"/>
              </a:lnSpc>
            </a:pPr>
            <a:r>
              <a:rPr lang="en-US" sz="2400" b="1" dirty="0">
                <a:solidFill>
                  <a:srgbClr val="000000"/>
                </a:solidFill>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By automating tasks such as waste collection, sorting, and recycling, the AI-based system minimizes human intervention, reduces operational costs, and contributes to a more sustainable and environmentally friendly waste management approach.</a:t>
            </a:r>
          </a:p>
          <a:p>
            <a:pPr>
              <a:lnSpc>
                <a:spcPts val="2954"/>
              </a:lnSpc>
            </a:pPr>
            <a:endParaRPr lang="en-US" sz="2400" b="1" dirty="0">
              <a:solidFill>
                <a:srgbClr val="000000"/>
              </a:solidFill>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ts val="2954"/>
              </a:lnSpc>
            </a:pPr>
            <a:r>
              <a:rPr lang="en-US" sz="2400" b="1" dirty="0">
                <a:solidFill>
                  <a:srgbClr val="000000"/>
                </a:solidFill>
                <a:effectLst>
                  <a:outerShdw blurRad="38100" dist="38100" dir="2700000" algn="tl">
                    <a:srgbClr val="000000">
                      <a:alpha val="43137"/>
                    </a:srgbClr>
                  </a:outerShdw>
                </a:effectLst>
                <a:latin typeface="Microsoft Sans Serif" panose="020B0604020202020204" pitchFamily="34" charset="0"/>
                <a:ea typeface="Microsoft Sans Serif" panose="020B0604020202020204" pitchFamily="34" charset="0"/>
                <a:cs typeface="Microsoft Sans Serif" panose="020B0604020202020204" pitchFamily="34" charset="0"/>
              </a:rPr>
              <a:t> This technology enables real-time monitoring, predictive analysis, and the implementation of smart strategies to address waste-related challenges in a more intelligent and resource-efficient manner.</a:t>
            </a:r>
          </a:p>
        </p:txBody>
      </p:sp>
      <p:pic>
        <p:nvPicPr>
          <p:cNvPr id="2054" name="Picture 6" descr="0: Waste Hierarchy Showing the Least Preferred Option in Integrated ...">
            <a:extLst>
              <a:ext uri="{FF2B5EF4-FFF2-40B4-BE49-F238E27FC236}">
                <a16:creationId xmlns:a16="http://schemas.microsoft.com/office/drawing/2014/main" id="{98A1CCD5-82D7-D8C2-7114-B2E095B3FB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21" y="3638371"/>
            <a:ext cx="7216084" cy="6058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6021"/>
        </a:solidFill>
        <a:effectLst/>
      </p:bgPr>
    </p:bg>
    <p:spTree>
      <p:nvGrpSpPr>
        <p:cNvPr id="1" name=""/>
        <p:cNvGrpSpPr/>
        <p:nvPr/>
      </p:nvGrpSpPr>
      <p:grpSpPr>
        <a:xfrm>
          <a:off x="0" y="0"/>
          <a:ext cx="0" cy="0"/>
          <a:chOff x="0" y="0"/>
          <a:chExt cx="0" cy="0"/>
        </a:xfrm>
      </p:grpSpPr>
      <p:sp>
        <p:nvSpPr>
          <p:cNvPr id="2" name="Freeform 2"/>
          <p:cNvSpPr/>
          <p:nvPr/>
        </p:nvSpPr>
        <p:spPr>
          <a:xfrm>
            <a:off x="-840825" y="6393809"/>
            <a:ext cx="5367418" cy="4715376"/>
          </a:xfrm>
          <a:custGeom>
            <a:avLst/>
            <a:gdLst/>
            <a:ahLst/>
            <a:cxnLst/>
            <a:rect l="l" t="t" r="r" b="b"/>
            <a:pathLst>
              <a:path w="5367418" h="4715376">
                <a:moveTo>
                  <a:pt x="0" y="0"/>
                </a:moveTo>
                <a:lnTo>
                  <a:pt x="5367418" y="0"/>
                </a:lnTo>
                <a:lnTo>
                  <a:pt x="5367418" y="4715376"/>
                </a:lnTo>
                <a:lnTo>
                  <a:pt x="0" y="471537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2656342" y="-4747519"/>
            <a:ext cx="9495039" cy="949503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grpSp>
        <p:nvGrpSpPr>
          <p:cNvPr id="6" name="Group 6"/>
          <p:cNvGrpSpPr/>
          <p:nvPr/>
        </p:nvGrpSpPr>
        <p:grpSpPr>
          <a:xfrm>
            <a:off x="2091177" y="2025382"/>
            <a:ext cx="1895316" cy="1895316"/>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BD59"/>
            </a:soli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3499"/>
                </a:lnSpc>
              </a:pPr>
              <a:endParaRPr/>
            </a:p>
          </p:txBody>
        </p:sp>
      </p:grpSp>
      <p:sp>
        <p:nvSpPr>
          <p:cNvPr id="11" name="TextBox 11"/>
          <p:cNvSpPr txBox="1"/>
          <p:nvPr/>
        </p:nvSpPr>
        <p:spPr>
          <a:xfrm>
            <a:off x="6838696" y="808049"/>
            <a:ext cx="8637326" cy="2164992"/>
          </a:xfrm>
          <a:prstGeom prst="rect">
            <a:avLst/>
          </a:prstGeom>
        </p:spPr>
        <p:txBody>
          <a:bodyPr lIns="0" tIns="0" rIns="0" bIns="0" rtlCol="0" anchor="t">
            <a:spAutoFit/>
          </a:bodyPr>
          <a:lstStyle/>
          <a:p>
            <a:pPr>
              <a:lnSpc>
                <a:spcPts val="5497"/>
              </a:lnSpc>
            </a:pPr>
            <a:r>
              <a:rPr lang="en-US" sz="6787" dirty="0">
                <a:solidFill>
                  <a:srgbClr val="FFFFFF"/>
                </a:solidFill>
                <a:latin typeface="Montserrat Ultra-Bold"/>
              </a:rPr>
              <a:t>How AI works in waste management </a:t>
            </a:r>
          </a:p>
        </p:txBody>
      </p:sp>
      <p:grpSp>
        <p:nvGrpSpPr>
          <p:cNvPr id="12" name="Group 12"/>
          <p:cNvGrpSpPr/>
          <p:nvPr/>
        </p:nvGrpSpPr>
        <p:grpSpPr>
          <a:xfrm>
            <a:off x="11870019" y="6768950"/>
            <a:ext cx="9495039" cy="949503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15" name="Freeform 15"/>
          <p:cNvSpPr/>
          <p:nvPr/>
        </p:nvSpPr>
        <p:spPr>
          <a:xfrm flipH="1" flipV="1">
            <a:off x="1377439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2"/>
                </a:ext>
              </a:extLst>
            </a:blip>
            <a:stretch>
              <a:fillRect/>
            </a:stretch>
          </a:blipFill>
        </p:spPr>
      </p:sp>
      <p:sp>
        <p:nvSpPr>
          <p:cNvPr id="16" name="TextBox 16"/>
          <p:cNvSpPr txBox="1"/>
          <p:nvPr/>
        </p:nvSpPr>
        <p:spPr>
          <a:xfrm>
            <a:off x="6872870" y="3329273"/>
            <a:ext cx="11077352" cy="6409752"/>
          </a:xfrm>
          <a:prstGeom prst="rect">
            <a:avLst/>
          </a:prstGeom>
        </p:spPr>
        <p:txBody>
          <a:bodyPr lIns="0" tIns="0" rIns="0" bIns="0" rtlCol="0" anchor="t">
            <a:spAutoFit/>
          </a:bodyPr>
          <a:lstStyle/>
          <a:p>
            <a:pPr>
              <a:lnSpc>
                <a:spcPts val="2521"/>
              </a:lnSpc>
            </a:pPr>
            <a:r>
              <a:rPr lang="en-US" sz="2401" b="1" dirty="0">
                <a:solidFill>
                  <a:schemeClr val="tx1">
                    <a:lumMod val="95000"/>
                    <a:lumOff val="5000"/>
                  </a:schemeClr>
                </a:solidFill>
                <a:latin typeface="Montserrat"/>
              </a:rPr>
              <a:t>AI plays a crucial role in sorting and categorizing waste by enhancing efficiency and accuracy in waste management processes. Here's a brief explanation:</a:t>
            </a:r>
          </a:p>
          <a:p>
            <a:pPr>
              <a:lnSpc>
                <a:spcPts val="2521"/>
              </a:lnSpc>
            </a:pPr>
            <a:endParaRPr lang="en-US" sz="2401" b="1" dirty="0">
              <a:solidFill>
                <a:schemeClr val="tx1">
                  <a:lumMod val="95000"/>
                  <a:lumOff val="5000"/>
                </a:schemeClr>
              </a:solidFill>
              <a:latin typeface="Montserrat"/>
            </a:endParaRPr>
          </a:p>
          <a:p>
            <a:pPr>
              <a:lnSpc>
                <a:spcPts val="2521"/>
              </a:lnSpc>
            </a:pPr>
            <a:r>
              <a:rPr lang="en-US" sz="2401" b="1" u="sng" dirty="0">
                <a:solidFill>
                  <a:schemeClr val="tx1">
                    <a:lumMod val="95000"/>
                    <a:lumOff val="5000"/>
                  </a:schemeClr>
                </a:solidFill>
                <a:latin typeface="Montserrat"/>
              </a:rPr>
              <a:t>Image Recognition: </a:t>
            </a:r>
            <a:r>
              <a:rPr lang="en-US" sz="2401" b="1" dirty="0">
                <a:solidFill>
                  <a:schemeClr val="tx1">
                    <a:lumMod val="95000"/>
                    <a:lumOff val="5000"/>
                  </a:schemeClr>
                </a:solidFill>
                <a:latin typeface="Montserrat"/>
              </a:rPr>
              <a:t>AI-powered systems use computer vision to analyze images of waste items. Cameras capture images of incoming waste, and AI algorithms identify and classify the items based on predefined categories (e.g., plastic, paper, glass).</a:t>
            </a:r>
          </a:p>
          <a:p>
            <a:pPr>
              <a:lnSpc>
                <a:spcPts val="2521"/>
              </a:lnSpc>
            </a:pPr>
            <a:endParaRPr lang="en-US" sz="2401" b="1" dirty="0">
              <a:solidFill>
                <a:schemeClr val="tx1">
                  <a:lumMod val="95000"/>
                  <a:lumOff val="5000"/>
                </a:schemeClr>
              </a:solidFill>
              <a:latin typeface="Montserrat"/>
            </a:endParaRPr>
          </a:p>
          <a:p>
            <a:pPr>
              <a:lnSpc>
                <a:spcPts val="2521"/>
              </a:lnSpc>
            </a:pPr>
            <a:r>
              <a:rPr lang="en-US" sz="2401" b="1" u="sng" dirty="0">
                <a:solidFill>
                  <a:schemeClr val="tx1">
                    <a:lumMod val="95000"/>
                    <a:lumOff val="5000"/>
                  </a:schemeClr>
                </a:solidFill>
                <a:latin typeface="Montserrat"/>
              </a:rPr>
              <a:t>Machine Learning</a:t>
            </a:r>
            <a:r>
              <a:rPr lang="en-US" sz="2401" b="1" dirty="0">
                <a:solidFill>
                  <a:schemeClr val="tx1">
                    <a:lumMod val="95000"/>
                    <a:lumOff val="5000"/>
                  </a:schemeClr>
                </a:solidFill>
                <a:latin typeface="Montserrat"/>
              </a:rPr>
              <a:t>: AI systems can be trained with machine learning algorithms to improve their accuracy over time. As they encounter more examples of different types of waste, the algorithms can adapt and become better at recognizing and categorizing items.</a:t>
            </a:r>
          </a:p>
          <a:p>
            <a:pPr>
              <a:lnSpc>
                <a:spcPts val="2521"/>
              </a:lnSpc>
            </a:pPr>
            <a:endParaRPr lang="en-US" sz="2401" b="1" dirty="0">
              <a:solidFill>
                <a:schemeClr val="tx1">
                  <a:lumMod val="95000"/>
                  <a:lumOff val="5000"/>
                </a:schemeClr>
              </a:solidFill>
              <a:latin typeface="Montserrat"/>
            </a:endParaRPr>
          </a:p>
          <a:p>
            <a:pPr>
              <a:lnSpc>
                <a:spcPts val="2521"/>
              </a:lnSpc>
            </a:pPr>
            <a:r>
              <a:rPr lang="en-US" sz="2401" b="1" u="sng" dirty="0">
                <a:solidFill>
                  <a:schemeClr val="tx1">
                    <a:lumMod val="95000"/>
                    <a:lumOff val="5000"/>
                  </a:schemeClr>
                </a:solidFill>
                <a:latin typeface="Montserrat"/>
              </a:rPr>
              <a:t>Automation</a:t>
            </a:r>
            <a:r>
              <a:rPr lang="en-US" sz="2401" b="1" dirty="0">
                <a:solidFill>
                  <a:schemeClr val="tx1">
                    <a:lumMod val="95000"/>
                    <a:lumOff val="5000"/>
                  </a:schemeClr>
                </a:solidFill>
                <a:latin typeface="Montserrat"/>
              </a:rPr>
              <a:t>: AI enables the automation of sorting processes in waste management facilities. Automated robotic arms or conveyor belt systems equipped with AI technology can quickly and accurately separate different types of materials, improving the overall efficiency of the sorting process.</a:t>
            </a:r>
          </a:p>
          <a:p>
            <a:pPr>
              <a:lnSpc>
                <a:spcPts val="2521"/>
              </a:lnSpc>
            </a:pPr>
            <a:endParaRPr lang="en-US" sz="2401" dirty="0">
              <a:solidFill>
                <a:srgbClr val="FFFFFF"/>
              </a:solidFill>
              <a:latin typeface="Montserrat"/>
            </a:endParaRPr>
          </a:p>
        </p:txBody>
      </p:sp>
      <p:sp>
        <p:nvSpPr>
          <p:cNvPr id="17" name="TextBox 17"/>
          <p:cNvSpPr txBox="1"/>
          <p:nvPr/>
        </p:nvSpPr>
        <p:spPr>
          <a:xfrm>
            <a:off x="7373680" y="5900634"/>
            <a:ext cx="9571388" cy="398713"/>
          </a:xfrm>
          <a:prstGeom prst="rect">
            <a:avLst/>
          </a:prstGeom>
        </p:spPr>
        <p:txBody>
          <a:bodyPr lIns="0" tIns="0" rIns="0" bIns="0" rtlCol="0" anchor="t">
            <a:spAutoFit/>
          </a:bodyPr>
          <a:lstStyle/>
          <a:p>
            <a:pPr>
              <a:lnSpc>
                <a:spcPts val="3076"/>
              </a:lnSpc>
            </a:pPr>
            <a:endParaRPr/>
          </a:p>
        </p:txBody>
      </p:sp>
      <p:sp>
        <p:nvSpPr>
          <p:cNvPr id="18" name="TextBox 18"/>
          <p:cNvSpPr txBox="1"/>
          <p:nvPr/>
        </p:nvSpPr>
        <p:spPr>
          <a:xfrm>
            <a:off x="7175068" y="6518421"/>
            <a:ext cx="4517275" cy="398713"/>
          </a:xfrm>
          <a:prstGeom prst="rect">
            <a:avLst/>
          </a:prstGeom>
        </p:spPr>
        <p:txBody>
          <a:bodyPr lIns="0" tIns="0" rIns="0" bIns="0" rtlCol="0" anchor="t">
            <a:spAutoFit/>
          </a:bodyPr>
          <a:lstStyle/>
          <a:p>
            <a:pPr>
              <a:lnSpc>
                <a:spcPts val="3076"/>
              </a:lnSpc>
            </a:pPr>
            <a:endParaRPr/>
          </a:p>
        </p:txBody>
      </p:sp>
      <p:sp>
        <p:nvSpPr>
          <p:cNvPr id="19" name="TextBox 19"/>
          <p:cNvSpPr txBox="1"/>
          <p:nvPr/>
        </p:nvSpPr>
        <p:spPr>
          <a:xfrm>
            <a:off x="11692343" y="6518421"/>
            <a:ext cx="4517275" cy="1960813"/>
          </a:xfrm>
          <a:prstGeom prst="rect">
            <a:avLst/>
          </a:prstGeom>
        </p:spPr>
        <p:txBody>
          <a:bodyPr lIns="0" tIns="0" rIns="0" bIns="0" rtlCol="0" anchor="t">
            <a:spAutoFit/>
          </a:bodyPr>
          <a:lstStyle/>
          <a:p>
            <a:pPr>
              <a:lnSpc>
                <a:spcPts val="3076"/>
              </a:lnSpc>
            </a:pPr>
            <a:endParaRPr/>
          </a:p>
        </p:txBody>
      </p:sp>
      <p:pic>
        <p:nvPicPr>
          <p:cNvPr id="20" name="Picture 4" descr="AI supports unique solution to optimize waste collection in France ...">
            <a:extLst>
              <a:ext uri="{FF2B5EF4-FFF2-40B4-BE49-F238E27FC236}">
                <a16:creationId xmlns:a16="http://schemas.microsoft.com/office/drawing/2014/main" id="{A547FAE9-7A37-2362-90C4-4A4AEE8585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3730309"/>
            <a:ext cx="6695194" cy="50211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BD59"/>
        </a:solidFill>
        <a:effectLst/>
      </p:bgPr>
    </p:bg>
    <p:spTree>
      <p:nvGrpSpPr>
        <p:cNvPr id="1" name=""/>
        <p:cNvGrpSpPr/>
        <p:nvPr/>
      </p:nvGrpSpPr>
      <p:grpSpPr>
        <a:xfrm>
          <a:off x="0" y="0"/>
          <a:ext cx="0" cy="0"/>
          <a:chOff x="0" y="0"/>
          <a:chExt cx="0" cy="0"/>
        </a:xfrm>
      </p:grpSpPr>
      <p:grpSp>
        <p:nvGrpSpPr>
          <p:cNvPr id="2" name="Group 2"/>
          <p:cNvGrpSpPr/>
          <p:nvPr/>
        </p:nvGrpSpPr>
        <p:grpSpPr>
          <a:xfrm>
            <a:off x="11870019" y="6768950"/>
            <a:ext cx="9495039" cy="94950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5" name="Freeform 5"/>
          <p:cNvSpPr/>
          <p:nvPr/>
        </p:nvSpPr>
        <p:spPr>
          <a:xfrm flipV="1">
            <a:off x="7176031" y="2250284"/>
            <a:ext cx="2095013" cy="2198964"/>
          </a:xfrm>
          <a:custGeom>
            <a:avLst/>
            <a:gdLst/>
            <a:ahLst/>
            <a:cxnLst/>
            <a:rect l="l" t="t" r="r" b="b"/>
            <a:pathLst>
              <a:path w="2095013" h="2198964">
                <a:moveTo>
                  <a:pt x="0" y="2198964"/>
                </a:moveTo>
                <a:lnTo>
                  <a:pt x="2095013" y="2198964"/>
                </a:lnTo>
                <a:lnTo>
                  <a:pt x="2095013" y="0"/>
                </a:lnTo>
                <a:lnTo>
                  <a:pt x="0" y="0"/>
                </a:lnTo>
                <a:lnTo>
                  <a:pt x="0" y="2198964"/>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2656342" y="-4747519"/>
            <a:ext cx="9495039" cy="949503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9" name="Freeform 9"/>
          <p:cNvSpPr/>
          <p:nvPr/>
        </p:nvSpPr>
        <p:spPr>
          <a:xfrm flipH="1" flipV="1">
            <a:off x="1377439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840825" y="6393809"/>
            <a:ext cx="5367418" cy="4715376"/>
          </a:xfrm>
          <a:custGeom>
            <a:avLst/>
            <a:gdLst/>
            <a:ahLst/>
            <a:cxnLst/>
            <a:rect l="l" t="t" r="r" b="b"/>
            <a:pathLst>
              <a:path w="5367418" h="4715376">
                <a:moveTo>
                  <a:pt x="0" y="0"/>
                </a:moveTo>
                <a:lnTo>
                  <a:pt x="5367418" y="0"/>
                </a:lnTo>
                <a:lnTo>
                  <a:pt x="5367418" y="4715376"/>
                </a:lnTo>
                <a:lnTo>
                  <a:pt x="0" y="4715376"/>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014580" y="2731451"/>
            <a:ext cx="4824116" cy="4824097"/>
            <a:chOff x="0" y="0"/>
            <a:chExt cx="6350000" cy="6349975"/>
          </a:xfrm>
        </p:grpSpPr>
        <p:sp>
          <p:nvSpPr>
            <p:cNvPr id="12" name="Freeform 12"/>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t="-40006" b="-9994"/>
              </a:stretch>
            </a:blipFill>
          </p:spPr>
        </p:sp>
      </p:grpSp>
      <p:grpSp>
        <p:nvGrpSpPr>
          <p:cNvPr id="13" name="Group 13"/>
          <p:cNvGrpSpPr/>
          <p:nvPr/>
        </p:nvGrpSpPr>
        <p:grpSpPr>
          <a:xfrm>
            <a:off x="1672324" y="2731451"/>
            <a:ext cx="1869199" cy="186919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6021"/>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16" name="Freeform 16"/>
          <p:cNvSpPr/>
          <p:nvPr/>
        </p:nvSpPr>
        <p:spPr>
          <a:xfrm>
            <a:off x="1924873" y="3009314"/>
            <a:ext cx="1364101" cy="1364101"/>
          </a:xfrm>
          <a:custGeom>
            <a:avLst/>
            <a:gdLst/>
            <a:ahLst/>
            <a:cxnLst/>
            <a:rect l="l" t="t" r="r" b="b"/>
            <a:pathLst>
              <a:path w="1364101" h="1364101">
                <a:moveTo>
                  <a:pt x="0" y="0"/>
                </a:moveTo>
                <a:lnTo>
                  <a:pt x="1364102" y="0"/>
                </a:lnTo>
                <a:lnTo>
                  <a:pt x="1364102" y="1364101"/>
                </a:lnTo>
                <a:lnTo>
                  <a:pt x="0" y="136410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a:off x="15265242" y="8920226"/>
            <a:ext cx="1352296" cy="338074"/>
          </a:xfrm>
          <a:custGeom>
            <a:avLst/>
            <a:gdLst/>
            <a:ahLst/>
            <a:cxnLst/>
            <a:rect l="l" t="t" r="r" b="b"/>
            <a:pathLst>
              <a:path w="1352296" h="338074">
                <a:moveTo>
                  <a:pt x="0" y="0"/>
                </a:moveTo>
                <a:lnTo>
                  <a:pt x="1352296" y="0"/>
                </a:lnTo>
                <a:lnTo>
                  <a:pt x="1352296" y="338074"/>
                </a:lnTo>
                <a:lnTo>
                  <a:pt x="0" y="33807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a:off x="2351615" y="1235436"/>
            <a:ext cx="1352296" cy="338074"/>
          </a:xfrm>
          <a:custGeom>
            <a:avLst/>
            <a:gdLst/>
            <a:ahLst/>
            <a:cxnLst/>
            <a:rect l="l" t="t" r="r" b="b"/>
            <a:pathLst>
              <a:path w="1352296" h="338074">
                <a:moveTo>
                  <a:pt x="0" y="0"/>
                </a:moveTo>
                <a:lnTo>
                  <a:pt x="1352296" y="0"/>
                </a:lnTo>
                <a:lnTo>
                  <a:pt x="1352296" y="338074"/>
                </a:lnTo>
                <a:lnTo>
                  <a:pt x="0" y="33807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9" name="TextBox 19"/>
          <p:cNvSpPr txBox="1"/>
          <p:nvPr/>
        </p:nvSpPr>
        <p:spPr>
          <a:xfrm>
            <a:off x="5810315" y="648176"/>
            <a:ext cx="10807223" cy="2468304"/>
          </a:xfrm>
          <a:prstGeom prst="rect">
            <a:avLst/>
          </a:prstGeom>
        </p:spPr>
        <p:txBody>
          <a:bodyPr lIns="0" tIns="0" rIns="0" bIns="0" rtlCol="0" anchor="t">
            <a:spAutoFit/>
          </a:bodyPr>
          <a:lstStyle/>
          <a:p>
            <a:pPr>
              <a:lnSpc>
                <a:spcPts val="6251"/>
              </a:lnSpc>
            </a:pPr>
            <a:r>
              <a:rPr lang="en-US" sz="7717">
                <a:solidFill>
                  <a:srgbClr val="F56021"/>
                </a:solidFill>
                <a:latin typeface="Montserrat Ultra-Bold"/>
              </a:rPr>
              <a:t>Machine learning algorithms used for waste recognition </a:t>
            </a:r>
          </a:p>
        </p:txBody>
      </p:sp>
      <p:sp>
        <p:nvSpPr>
          <p:cNvPr id="20" name="TextBox 20"/>
          <p:cNvSpPr txBox="1"/>
          <p:nvPr/>
        </p:nvSpPr>
        <p:spPr>
          <a:xfrm>
            <a:off x="7815901" y="5635929"/>
            <a:ext cx="5850693" cy="398713"/>
          </a:xfrm>
          <a:prstGeom prst="rect">
            <a:avLst/>
          </a:prstGeom>
        </p:spPr>
        <p:txBody>
          <a:bodyPr lIns="0" tIns="0" rIns="0" bIns="0" rtlCol="0" anchor="t">
            <a:spAutoFit/>
          </a:bodyPr>
          <a:lstStyle/>
          <a:p>
            <a:pPr>
              <a:lnSpc>
                <a:spcPts val="3076"/>
              </a:lnSpc>
            </a:pPr>
            <a:endParaRPr/>
          </a:p>
        </p:txBody>
      </p:sp>
      <p:sp>
        <p:nvSpPr>
          <p:cNvPr id="21" name="TextBox 21"/>
          <p:cNvSpPr txBox="1"/>
          <p:nvPr/>
        </p:nvSpPr>
        <p:spPr>
          <a:xfrm>
            <a:off x="7431062" y="3694626"/>
            <a:ext cx="10049009" cy="6207395"/>
          </a:xfrm>
          <a:prstGeom prst="rect">
            <a:avLst/>
          </a:prstGeom>
        </p:spPr>
        <p:txBody>
          <a:bodyPr lIns="0" tIns="0" rIns="0" bIns="0" rtlCol="0" anchor="t">
            <a:spAutoFit/>
          </a:bodyPr>
          <a:lstStyle/>
          <a:p>
            <a:pPr marL="477729" lvl="1" indent="-238865">
              <a:lnSpc>
                <a:spcPts val="2323"/>
              </a:lnSpc>
              <a:buFont typeface="Arial"/>
              <a:buChar char="•"/>
            </a:pPr>
            <a:r>
              <a:rPr lang="en-US" sz="2212">
                <a:solidFill>
                  <a:srgbClr val="000000"/>
                </a:solidFill>
                <a:latin typeface="Montserrat"/>
              </a:rPr>
              <a:t>Machine learning algorithms used for waste recognition employ computer vision techniques to analyze visual data and identify different types of waste. Two common types of algorithms include:</a:t>
            </a:r>
          </a:p>
          <a:p>
            <a:pPr>
              <a:lnSpc>
                <a:spcPts val="2323"/>
              </a:lnSpc>
            </a:pPr>
            <a:endParaRPr lang="en-US" sz="2212">
              <a:solidFill>
                <a:srgbClr val="000000"/>
              </a:solidFill>
              <a:latin typeface="Montserrat"/>
            </a:endParaRPr>
          </a:p>
          <a:p>
            <a:pPr marL="477729" lvl="1" indent="-238865">
              <a:lnSpc>
                <a:spcPts val="2323"/>
              </a:lnSpc>
              <a:buFont typeface="Arial"/>
              <a:buChar char="•"/>
            </a:pPr>
            <a:r>
              <a:rPr lang="en-US" sz="2212">
                <a:solidFill>
                  <a:srgbClr val="000000"/>
                </a:solidFill>
                <a:latin typeface="Montserrat"/>
              </a:rPr>
              <a:t>Convolutional Neural Networks (CNNs): These are deep learning algorithms specifically designed for image recognition. CNNs excel at learning hierarchical features from visual data, making them effective in identifying and classifying objects within images, including different types of waste materials.</a:t>
            </a:r>
          </a:p>
          <a:p>
            <a:pPr>
              <a:lnSpc>
                <a:spcPts val="2323"/>
              </a:lnSpc>
            </a:pPr>
            <a:endParaRPr lang="en-US" sz="2212">
              <a:solidFill>
                <a:srgbClr val="000000"/>
              </a:solidFill>
              <a:latin typeface="Montserrat"/>
            </a:endParaRPr>
          </a:p>
          <a:p>
            <a:pPr marL="477729" lvl="1" indent="-238865">
              <a:lnSpc>
                <a:spcPts val="2323"/>
              </a:lnSpc>
              <a:buFont typeface="Arial"/>
              <a:buChar char="•"/>
            </a:pPr>
            <a:r>
              <a:rPr lang="en-US" sz="2212">
                <a:solidFill>
                  <a:srgbClr val="000000"/>
                </a:solidFill>
                <a:latin typeface="Montserrat"/>
              </a:rPr>
              <a:t>Support Vector Machines (SVMs): SVMs are a type of supervised learning algorithm that can be used for classification tasks. In waste recognition, SVMs can be trained on labeled data to distinguish between various waste categories based on specific features extracted from images.</a:t>
            </a:r>
          </a:p>
          <a:p>
            <a:pPr>
              <a:lnSpc>
                <a:spcPts val="2323"/>
              </a:lnSpc>
            </a:pPr>
            <a:endParaRPr lang="en-US" sz="2212">
              <a:solidFill>
                <a:srgbClr val="000000"/>
              </a:solidFill>
              <a:latin typeface="Montserrat"/>
            </a:endParaRPr>
          </a:p>
          <a:p>
            <a:pPr marL="477729" lvl="1" indent="-238865">
              <a:lnSpc>
                <a:spcPts val="2323"/>
              </a:lnSpc>
              <a:buFont typeface="Arial"/>
              <a:buChar char="•"/>
            </a:pPr>
            <a:r>
              <a:rPr lang="en-US" sz="2212">
                <a:solidFill>
                  <a:srgbClr val="000000"/>
                </a:solidFill>
                <a:latin typeface="Montserrat"/>
              </a:rPr>
              <a:t>These algorithms, along with others like decision trees or ensemble methods, contribute to the development of intelligent waste recognition systems that can automate the sorting and categorization of waste materials in an efficient and accurate manner.</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6021"/>
        </a:solidFill>
        <a:effectLst/>
      </p:bgPr>
    </p:bg>
    <p:spTree>
      <p:nvGrpSpPr>
        <p:cNvPr id="1" name=""/>
        <p:cNvGrpSpPr/>
        <p:nvPr/>
      </p:nvGrpSpPr>
      <p:grpSpPr>
        <a:xfrm>
          <a:off x="0" y="0"/>
          <a:ext cx="0" cy="0"/>
          <a:chOff x="0" y="0"/>
          <a:chExt cx="0" cy="0"/>
        </a:xfrm>
      </p:grpSpPr>
      <p:sp>
        <p:nvSpPr>
          <p:cNvPr id="2" name="Freeform 2"/>
          <p:cNvSpPr/>
          <p:nvPr/>
        </p:nvSpPr>
        <p:spPr>
          <a:xfrm flipH="1" flipV="1">
            <a:off x="1377439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1870019" y="6768950"/>
            <a:ext cx="9495039" cy="949503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grpSp>
        <p:nvGrpSpPr>
          <p:cNvPr id="7" name="Group 7"/>
          <p:cNvGrpSpPr/>
          <p:nvPr/>
        </p:nvGrpSpPr>
        <p:grpSpPr>
          <a:xfrm>
            <a:off x="-2656342" y="-4747519"/>
            <a:ext cx="9495039" cy="949503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grpSp>
        <p:nvGrpSpPr>
          <p:cNvPr id="10" name="Group 10"/>
          <p:cNvGrpSpPr/>
          <p:nvPr/>
        </p:nvGrpSpPr>
        <p:grpSpPr>
          <a:xfrm>
            <a:off x="11990336" y="2290621"/>
            <a:ext cx="5268964" cy="6548155"/>
            <a:chOff x="0" y="0"/>
            <a:chExt cx="5108702" cy="6348984"/>
          </a:xfrm>
        </p:grpSpPr>
        <p:sp>
          <p:nvSpPr>
            <p:cNvPr id="11" name="Freeform 11"/>
            <p:cNvSpPr/>
            <p:nvPr/>
          </p:nvSpPr>
          <p:spPr>
            <a:xfrm>
              <a:off x="0" y="0"/>
              <a:ext cx="5108702" cy="6348984"/>
            </a:xfrm>
            <a:custGeom>
              <a:avLst/>
              <a:gdLst/>
              <a:ahLst/>
              <a:cxnLst/>
              <a:rect l="l" t="t" r="r" b="b"/>
              <a:pathLst>
                <a:path w="5108702" h="6348984">
                  <a:moveTo>
                    <a:pt x="5108702" y="2554351"/>
                  </a:moveTo>
                  <a:lnTo>
                    <a:pt x="5108702" y="3794506"/>
                  </a:lnTo>
                  <a:cubicBezTo>
                    <a:pt x="5108702" y="5205222"/>
                    <a:pt x="3965067" y="6348857"/>
                    <a:pt x="2554351" y="6348857"/>
                  </a:cubicBezTo>
                  <a:cubicBezTo>
                    <a:pt x="1143635" y="6348984"/>
                    <a:pt x="0" y="5205349"/>
                    <a:pt x="0" y="3794506"/>
                  </a:cubicBezTo>
                  <a:lnTo>
                    <a:pt x="0" y="2554351"/>
                  </a:lnTo>
                  <a:cubicBezTo>
                    <a:pt x="0" y="1143635"/>
                    <a:pt x="1143635" y="0"/>
                    <a:pt x="2554351" y="0"/>
                  </a:cubicBezTo>
                  <a:cubicBezTo>
                    <a:pt x="3965067" y="0"/>
                    <a:pt x="5108702" y="1143635"/>
                    <a:pt x="5108702" y="2554351"/>
                  </a:cubicBezTo>
                  <a:close/>
                </a:path>
              </a:pathLst>
            </a:custGeom>
            <a:blipFill>
              <a:blip r:embed="rId3"/>
              <a:stretch>
                <a:fillRect l="-62672" r="-23857"/>
              </a:stretch>
            </a:blipFill>
          </p:spPr>
        </p:sp>
      </p:grpSp>
      <p:sp>
        <p:nvSpPr>
          <p:cNvPr id="12" name="Freeform 12"/>
          <p:cNvSpPr/>
          <p:nvPr/>
        </p:nvSpPr>
        <p:spPr>
          <a:xfrm flipV="1">
            <a:off x="15370160" y="7078444"/>
            <a:ext cx="2076809" cy="2179856"/>
          </a:xfrm>
          <a:custGeom>
            <a:avLst/>
            <a:gdLst/>
            <a:ahLst/>
            <a:cxnLst/>
            <a:rect l="l" t="t" r="r" b="b"/>
            <a:pathLst>
              <a:path w="2076809" h="2179856">
                <a:moveTo>
                  <a:pt x="0" y="2179856"/>
                </a:moveTo>
                <a:lnTo>
                  <a:pt x="2076808" y="2179856"/>
                </a:lnTo>
                <a:lnTo>
                  <a:pt x="2076808" y="0"/>
                </a:lnTo>
                <a:lnTo>
                  <a:pt x="0" y="0"/>
                </a:lnTo>
                <a:lnTo>
                  <a:pt x="0" y="2179856"/>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2280409" y="2338075"/>
            <a:ext cx="1358588" cy="339647"/>
          </a:xfrm>
          <a:custGeom>
            <a:avLst/>
            <a:gdLst/>
            <a:ahLst/>
            <a:cxnLst/>
            <a:rect l="l" t="t" r="r" b="b"/>
            <a:pathLst>
              <a:path w="1358588" h="339647">
                <a:moveTo>
                  <a:pt x="0" y="0"/>
                </a:moveTo>
                <a:lnTo>
                  <a:pt x="1358588" y="0"/>
                </a:lnTo>
                <a:lnTo>
                  <a:pt x="1358588" y="339647"/>
                </a:lnTo>
                <a:lnTo>
                  <a:pt x="0" y="33964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474071" y="862878"/>
            <a:ext cx="8669929" cy="1311790"/>
          </a:xfrm>
          <a:prstGeom prst="rect">
            <a:avLst/>
          </a:prstGeom>
        </p:spPr>
        <p:txBody>
          <a:bodyPr lIns="0" tIns="0" rIns="0" bIns="0" rtlCol="0" anchor="t">
            <a:spAutoFit/>
          </a:bodyPr>
          <a:lstStyle/>
          <a:p>
            <a:pPr>
              <a:lnSpc>
                <a:spcPts val="4941"/>
              </a:lnSpc>
            </a:pPr>
            <a:r>
              <a:rPr lang="en-US" sz="6100">
                <a:solidFill>
                  <a:srgbClr val="FFFFFF"/>
                </a:solidFill>
                <a:latin typeface="Montserrat Ultra-Bold"/>
              </a:rPr>
              <a:t>Benefits of AI in waste management </a:t>
            </a:r>
          </a:p>
        </p:txBody>
      </p:sp>
      <p:sp>
        <p:nvSpPr>
          <p:cNvPr id="15" name="TextBox 15"/>
          <p:cNvSpPr txBox="1"/>
          <p:nvPr/>
        </p:nvSpPr>
        <p:spPr>
          <a:xfrm>
            <a:off x="0" y="2868222"/>
            <a:ext cx="11447424" cy="7229379"/>
          </a:xfrm>
          <a:prstGeom prst="rect">
            <a:avLst/>
          </a:prstGeom>
        </p:spPr>
        <p:txBody>
          <a:bodyPr lIns="0" tIns="0" rIns="0" bIns="0" rtlCol="0" anchor="t">
            <a:spAutoFit/>
          </a:bodyPr>
          <a:lstStyle/>
          <a:p>
            <a:pPr marL="467564" lvl="1" indent="-233782">
              <a:lnSpc>
                <a:spcPts val="2273"/>
              </a:lnSpc>
              <a:buFont typeface="Arial"/>
              <a:buChar char="•"/>
            </a:pPr>
            <a:r>
              <a:rPr lang="en-US" sz="2165" dirty="0">
                <a:solidFill>
                  <a:srgbClr val="FFFFFF"/>
                </a:solidFill>
                <a:latin typeface="Montserrat"/>
              </a:rPr>
              <a:t>1. **Optimized Collection Routes:** AI analyzes historical data and real-time information to optimize waste collection routes, minimizing fuel consumption and reducing carbon emissions.</a:t>
            </a:r>
          </a:p>
          <a:p>
            <a:pPr>
              <a:lnSpc>
                <a:spcPts val="2273"/>
              </a:lnSpc>
            </a:pPr>
            <a:endParaRPr lang="en-US" sz="2165" dirty="0">
              <a:solidFill>
                <a:srgbClr val="FFFFFF"/>
              </a:solidFill>
              <a:latin typeface="Montserrat"/>
            </a:endParaRPr>
          </a:p>
          <a:p>
            <a:pPr marL="467564" lvl="1" indent="-233782">
              <a:lnSpc>
                <a:spcPts val="2273"/>
              </a:lnSpc>
              <a:buFont typeface="Arial"/>
              <a:buChar char="•"/>
            </a:pPr>
            <a:r>
              <a:rPr lang="en-US" sz="2165" dirty="0">
                <a:solidFill>
                  <a:srgbClr val="FFFFFF"/>
                </a:solidFill>
                <a:latin typeface="Montserrat"/>
              </a:rPr>
              <a:t>2. **Fill Level Prediction:** AI sensors monitor waste bin fill levels, predicting when they need emptying. This prevents unnecessary pickups, saving resources and reducing the environmental impact of collection vehicles.</a:t>
            </a:r>
          </a:p>
          <a:p>
            <a:pPr>
              <a:lnSpc>
                <a:spcPts val="2273"/>
              </a:lnSpc>
            </a:pPr>
            <a:endParaRPr lang="en-US" sz="2165" dirty="0">
              <a:solidFill>
                <a:srgbClr val="FFFFFF"/>
              </a:solidFill>
              <a:latin typeface="Montserrat"/>
            </a:endParaRPr>
          </a:p>
          <a:p>
            <a:pPr marL="467564" lvl="1" indent="-233782">
              <a:lnSpc>
                <a:spcPts val="2273"/>
              </a:lnSpc>
              <a:buFont typeface="Arial"/>
              <a:buChar char="•"/>
            </a:pPr>
            <a:r>
              <a:rPr lang="en-US" sz="2165" dirty="0">
                <a:solidFill>
                  <a:srgbClr val="FFFFFF"/>
                </a:solidFill>
                <a:latin typeface="Montserrat"/>
              </a:rPr>
              <a:t>3. **Efficient Resource Allocation:** AI algorithms assist in allocating resources, such as personnel and vehicles, based on demand patterns and specific waste types. This ensures a more efficient use of resources over time.</a:t>
            </a:r>
          </a:p>
          <a:p>
            <a:pPr>
              <a:lnSpc>
                <a:spcPts val="2273"/>
              </a:lnSpc>
            </a:pPr>
            <a:endParaRPr lang="en-US" sz="2165" dirty="0">
              <a:solidFill>
                <a:srgbClr val="FFFFFF"/>
              </a:solidFill>
              <a:latin typeface="Montserrat"/>
            </a:endParaRPr>
          </a:p>
          <a:p>
            <a:pPr marL="467564" lvl="1" indent="-233782">
              <a:lnSpc>
                <a:spcPts val="2273"/>
              </a:lnSpc>
              <a:buFont typeface="Arial"/>
              <a:buChar char="•"/>
            </a:pPr>
            <a:r>
              <a:rPr lang="en-US" sz="2165" dirty="0">
                <a:solidFill>
                  <a:srgbClr val="FFFFFF"/>
                </a:solidFill>
                <a:latin typeface="Montserrat"/>
              </a:rPr>
              <a:t>4. **Predictive Maintenance:** AI helps predict equipment failures, allowing for proactive maintenance of waste management machinery. This reduces downtime and extends the lifespan of equipment, ultimately cutting down on waste and costs.</a:t>
            </a:r>
          </a:p>
          <a:p>
            <a:pPr>
              <a:lnSpc>
                <a:spcPts val="2273"/>
              </a:lnSpc>
            </a:pPr>
            <a:endParaRPr lang="en-US" sz="2165" dirty="0">
              <a:solidFill>
                <a:srgbClr val="FFFFFF"/>
              </a:solidFill>
              <a:latin typeface="Montserrat"/>
            </a:endParaRPr>
          </a:p>
          <a:p>
            <a:pPr marL="467564" lvl="1" indent="-233782">
              <a:lnSpc>
                <a:spcPts val="2273"/>
              </a:lnSpc>
              <a:buFont typeface="Arial"/>
              <a:buChar char="•"/>
            </a:pPr>
            <a:r>
              <a:rPr lang="en-US" sz="2165" dirty="0">
                <a:solidFill>
                  <a:srgbClr val="FFFFFF"/>
                </a:solidFill>
                <a:latin typeface="Montserrat"/>
              </a:rPr>
              <a:t>5. **Smart Sorting Systems:** AI-powered sorting systems in recycling facilities enhance accuracy by identifying and separating different materials. This improves the quality of recycled materials and promotes a more effective recycling process.</a:t>
            </a:r>
          </a:p>
          <a:p>
            <a:pPr>
              <a:lnSpc>
                <a:spcPts val="2273"/>
              </a:lnSpc>
            </a:pPr>
            <a:endParaRPr lang="en-US" sz="2165" dirty="0">
              <a:solidFill>
                <a:srgbClr val="FFFFFF"/>
              </a:solidFill>
              <a:latin typeface="Montserrat"/>
            </a:endParaRPr>
          </a:p>
          <a:p>
            <a:pPr marL="467564" lvl="1" indent="-233782">
              <a:lnSpc>
                <a:spcPts val="2273"/>
              </a:lnSpc>
              <a:buFont typeface="Arial"/>
              <a:buChar char="•"/>
            </a:pPr>
            <a:r>
              <a:rPr lang="en-US" sz="2165" dirty="0">
                <a:solidFill>
                  <a:srgbClr val="FFFFFF"/>
                </a:solidFill>
                <a:latin typeface="Montserrat"/>
              </a:rPr>
              <a:t>6. **Data-Driven Decision Making:** AI processes vast amounts of data, enabling informed decision-making for waste management strategies. This data-driven approach contributes to long-term planning and continuous improvement.</a:t>
            </a:r>
          </a:p>
        </p:txBody>
      </p:sp>
      <p:pic>
        <p:nvPicPr>
          <p:cNvPr id="16" name="Picture 4" descr="Wasteland Sleep GIF - Wasteland Waste Sleep - Discover &amp; Share GIFs">
            <a:extLst>
              <a:ext uri="{FF2B5EF4-FFF2-40B4-BE49-F238E27FC236}">
                <a16:creationId xmlns:a16="http://schemas.microsoft.com/office/drawing/2014/main" id="{05BE2F79-7257-FBF0-A625-848C8379DF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69094" y="2306115"/>
            <a:ext cx="6360425" cy="76379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BD59"/>
        </a:solidFill>
        <a:effectLst/>
      </p:bgPr>
    </p:bg>
    <p:spTree>
      <p:nvGrpSpPr>
        <p:cNvPr id="1" name=""/>
        <p:cNvGrpSpPr/>
        <p:nvPr/>
      </p:nvGrpSpPr>
      <p:grpSpPr>
        <a:xfrm>
          <a:off x="0" y="0"/>
          <a:ext cx="0" cy="0"/>
          <a:chOff x="0" y="0"/>
          <a:chExt cx="0" cy="0"/>
        </a:xfrm>
      </p:grpSpPr>
      <p:grpSp>
        <p:nvGrpSpPr>
          <p:cNvPr id="2" name="Group 2"/>
          <p:cNvGrpSpPr/>
          <p:nvPr/>
        </p:nvGrpSpPr>
        <p:grpSpPr>
          <a:xfrm>
            <a:off x="11870019" y="6768950"/>
            <a:ext cx="9495039" cy="94950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2656342" y="-4747519"/>
            <a:ext cx="9495039" cy="949503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40784"/>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flipH="1" flipV="1">
            <a:off x="1377439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0512994" y="8751497"/>
            <a:ext cx="3261404" cy="3423229"/>
          </a:xfrm>
          <a:custGeom>
            <a:avLst/>
            <a:gdLst/>
            <a:ahLst/>
            <a:cxnLst/>
            <a:rect l="l" t="t" r="r" b="b"/>
            <a:pathLst>
              <a:path w="3261404" h="3423229">
                <a:moveTo>
                  <a:pt x="0" y="0"/>
                </a:moveTo>
                <a:lnTo>
                  <a:pt x="3261403" y="0"/>
                </a:lnTo>
                <a:lnTo>
                  <a:pt x="3261403" y="3423229"/>
                </a:lnTo>
                <a:lnTo>
                  <a:pt x="0" y="34232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207047" y="279435"/>
            <a:ext cx="12981058" cy="1670685"/>
          </a:xfrm>
          <a:prstGeom prst="rect">
            <a:avLst/>
          </a:prstGeom>
        </p:spPr>
        <p:txBody>
          <a:bodyPr lIns="0" tIns="0" rIns="0" bIns="0" rtlCol="0" anchor="t">
            <a:spAutoFit/>
          </a:bodyPr>
          <a:lstStyle/>
          <a:p>
            <a:pPr>
              <a:lnSpc>
                <a:spcPts val="6510"/>
              </a:lnSpc>
            </a:pPr>
            <a:r>
              <a:rPr lang="en-US" sz="6200">
                <a:solidFill>
                  <a:srgbClr val="F56021"/>
                </a:solidFill>
                <a:latin typeface="Montserrat Ultra-Bold"/>
              </a:rPr>
              <a:t>Positive outcomes of adopting AI in waste management </a:t>
            </a:r>
          </a:p>
        </p:txBody>
      </p:sp>
      <p:sp>
        <p:nvSpPr>
          <p:cNvPr id="15" name="TextBox 15"/>
          <p:cNvSpPr txBox="1"/>
          <p:nvPr/>
        </p:nvSpPr>
        <p:spPr>
          <a:xfrm>
            <a:off x="207047" y="2233999"/>
            <a:ext cx="11392787" cy="7765067"/>
          </a:xfrm>
          <a:prstGeom prst="rect">
            <a:avLst/>
          </a:prstGeom>
        </p:spPr>
        <p:txBody>
          <a:bodyPr lIns="0" tIns="0" rIns="0" bIns="0" rtlCol="0" anchor="t">
            <a:spAutoFit/>
          </a:bodyPr>
          <a:lstStyle/>
          <a:p>
            <a:pPr>
              <a:lnSpc>
                <a:spcPts val="3063"/>
              </a:lnSpc>
            </a:pPr>
            <a:r>
              <a:rPr lang="en-US" sz="2491" dirty="0">
                <a:solidFill>
                  <a:srgbClr val="000000"/>
                </a:solidFill>
                <a:latin typeface="Montserrat"/>
              </a:rPr>
              <a:t>Efficient Collection Routes: AI optimizes waste collection routes, cutting fuel use and emissions.</a:t>
            </a:r>
          </a:p>
          <a:p>
            <a:pPr>
              <a:lnSpc>
                <a:spcPts val="3063"/>
              </a:lnSpc>
            </a:pPr>
            <a:endParaRPr lang="en-US" sz="2491" dirty="0">
              <a:solidFill>
                <a:srgbClr val="000000"/>
              </a:solidFill>
              <a:latin typeface="Montserrat"/>
            </a:endParaRPr>
          </a:p>
          <a:p>
            <a:pPr>
              <a:lnSpc>
                <a:spcPts val="3063"/>
              </a:lnSpc>
            </a:pPr>
            <a:r>
              <a:rPr lang="en-US" sz="2491" dirty="0">
                <a:solidFill>
                  <a:srgbClr val="000000"/>
                </a:solidFill>
                <a:latin typeface="Montserrat"/>
              </a:rPr>
              <a:t>Smart Bin Monitoring: Real-time monitoring reduces unnecessary collections, saving fuel and lowering emissions.</a:t>
            </a:r>
          </a:p>
          <a:p>
            <a:pPr>
              <a:lnSpc>
                <a:spcPts val="3063"/>
              </a:lnSpc>
            </a:pPr>
            <a:endParaRPr lang="en-US" sz="2491" dirty="0">
              <a:solidFill>
                <a:srgbClr val="000000"/>
              </a:solidFill>
              <a:latin typeface="Montserrat"/>
            </a:endParaRPr>
          </a:p>
          <a:p>
            <a:pPr>
              <a:lnSpc>
                <a:spcPts val="3063"/>
              </a:lnSpc>
            </a:pPr>
            <a:r>
              <a:rPr lang="en-US" sz="2491" dirty="0">
                <a:solidFill>
                  <a:srgbClr val="000000"/>
                </a:solidFill>
                <a:latin typeface="Montserrat"/>
              </a:rPr>
              <a:t>Recycling Precision: AI improves sorting accuracy, boosting recycling rates and reducing landfill waste.</a:t>
            </a:r>
          </a:p>
          <a:p>
            <a:pPr>
              <a:lnSpc>
                <a:spcPts val="3063"/>
              </a:lnSpc>
            </a:pPr>
            <a:endParaRPr lang="en-US" sz="2491" dirty="0">
              <a:solidFill>
                <a:srgbClr val="000000"/>
              </a:solidFill>
              <a:latin typeface="Montserrat"/>
            </a:endParaRPr>
          </a:p>
          <a:p>
            <a:pPr>
              <a:lnSpc>
                <a:spcPts val="3063"/>
              </a:lnSpc>
            </a:pPr>
            <a:r>
              <a:rPr lang="en-US" sz="2491" dirty="0">
                <a:solidFill>
                  <a:srgbClr val="000000"/>
                </a:solidFill>
                <a:latin typeface="Montserrat"/>
              </a:rPr>
              <a:t>Energy Savings: AI optimizes energy use in waste facilities, cutting greenhouse gas emissions.</a:t>
            </a:r>
          </a:p>
          <a:p>
            <a:pPr>
              <a:lnSpc>
                <a:spcPts val="3063"/>
              </a:lnSpc>
            </a:pPr>
            <a:endParaRPr lang="en-US" sz="2491" dirty="0">
              <a:solidFill>
                <a:srgbClr val="000000"/>
              </a:solidFill>
              <a:latin typeface="Montserrat"/>
            </a:endParaRPr>
          </a:p>
          <a:p>
            <a:pPr>
              <a:lnSpc>
                <a:spcPts val="3063"/>
              </a:lnSpc>
            </a:pPr>
            <a:r>
              <a:rPr lang="en-US" sz="2491" dirty="0">
                <a:solidFill>
                  <a:srgbClr val="000000"/>
                </a:solidFill>
                <a:latin typeface="Montserrat"/>
              </a:rPr>
              <a:t>Illegal Dumping Prevention: AI detects and prevents illegal dumping, protecting the environment.</a:t>
            </a:r>
          </a:p>
          <a:p>
            <a:pPr>
              <a:lnSpc>
                <a:spcPts val="3063"/>
              </a:lnSpc>
            </a:pPr>
            <a:endParaRPr lang="en-US" sz="2491" dirty="0">
              <a:solidFill>
                <a:srgbClr val="000000"/>
              </a:solidFill>
              <a:latin typeface="Montserrat"/>
            </a:endParaRPr>
          </a:p>
          <a:p>
            <a:pPr>
              <a:lnSpc>
                <a:spcPts val="3063"/>
              </a:lnSpc>
            </a:pPr>
            <a:r>
              <a:rPr lang="en-US" sz="2491" dirty="0">
                <a:solidFill>
                  <a:srgbClr val="000000"/>
                </a:solidFill>
                <a:latin typeface="Montserrat"/>
              </a:rPr>
              <a:t>Data-Driven Decisions: Informed decisions through AI analysis lead to more effective waste management.</a:t>
            </a:r>
          </a:p>
          <a:p>
            <a:pPr>
              <a:lnSpc>
                <a:spcPts val="3063"/>
              </a:lnSpc>
            </a:pPr>
            <a:endParaRPr lang="en-US" sz="2491" dirty="0">
              <a:solidFill>
                <a:srgbClr val="000000"/>
              </a:solidFill>
              <a:latin typeface="Montserrat"/>
            </a:endParaRPr>
          </a:p>
          <a:p>
            <a:pPr>
              <a:lnSpc>
                <a:spcPts val="3063"/>
              </a:lnSpc>
            </a:pPr>
            <a:r>
              <a:rPr lang="en-US" sz="2491" dirty="0">
                <a:solidFill>
                  <a:srgbClr val="000000"/>
                </a:solidFill>
                <a:latin typeface="Montserrat"/>
              </a:rPr>
              <a:t>Landfill Reduction: AI promotes responsible disposal, reducing the need for landfill space.</a:t>
            </a:r>
          </a:p>
        </p:txBody>
      </p:sp>
      <p:sp>
        <p:nvSpPr>
          <p:cNvPr id="16" name="Freeform 16"/>
          <p:cNvSpPr/>
          <p:nvPr/>
        </p:nvSpPr>
        <p:spPr>
          <a:xfrm rot="-5400000">
            <a:off x="10083379" y="5761871"/>
            <a:ext cx="2309406" cy="1263875"/>
          </a:xfrm>
          <a:custGeom>
            <a:avLst/>
            <a:gdLst/>
            <a:ahLst/>
            <a:cxnLst/>
            <a:rect l="l" t="t" r="r" b="b"/>
            <a:pathLst>
              <a:path w="2309406" h="1263875">
                <a:moveTo>
                  <a:pt x="0" y="0"/>
                </a:moveTo>
                <a:lnTo>
                  <a:pt x="2309405" y="0"/>
                </a:lnTo>
                <a:lnTo>
                  <a:pt x="2309405" y="1263875"/>
                </a:lnTo>
                <a:lnTo>
                  <a:pt x="0" y="126387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rot="-5400000">
            <a:off x="14343962" y="3318782"/>
            <a:ext cx="2309406" cy="1263875"/>
          </a:xfrm>
          <a:custGeom>
            <a:avLst/>
            <a:gdLst/>
            <a:ahLst/>
            <a:cxnLst/>
            <a:rect l="l" t="t" r="r" b="b"/>
            <a:pathLst>
              <a:path w="2309406" h="1263875">
                <a:moveTo>
                  <a:pt x="0" y="0"/>
                </a:moveTo>
                <a:lnTo>
                  <a:pt x="2309406" y="0"/>
                </a:lnTo>
                <a:lnTo>
                  <a:pt x="2309406" y="1263875"/>
                </a:lnTo>
                <a:lnTo>
                  <a:pt x="0" y="1263875"/>
                </a:lnTo>
                <a:lnTo>
                  <a:pt x="0" y="0"/>
                </a:lnTo>
                <a:close/>
              </a:path>
            </a:pathLst>
          </a:custGeom>
          <a:blipFill>
            <a:blip>
              <a:extLst>
                <a:ext uri="{96DAC541-7B7A-43D3-8B79-37D633B846F1}">
                  <asvg:svgBlip xmlns:asvg="http://schemas.microsoft.com/office/drawing/2016/SVG/main" r:embed="rId4"/>
                </a:ext>
              </a:extLst>
            </a:blip>
            <a:stretch>
              <a:fillRect/>
            </a:stretch>
          </a:blipFill>
        </p:spPr>
      </p:sp>
      <p:pic>
        <p:nvPicPr>
          <p:cNvPr id="5128" name="Picture 8" descr="Pin on Inspired">
            <a:extLst>
              <a:ext uri="{FF2B5EF4-FFF2-40B4-BE49-F238E27FC236}">
                <a16:creationId xmlns:a16="http://schemas.microsoft.com/office/drawing/2014/main" id="{9B95BABD-53CC-D701-C6E3-790F17391C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99834" y="1257299"/>
            <a:ext cx="6688166" cy="9125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6021"/>
        </a:solidFill>
        <a:effectLst/>
      </p:bgPr>
    </p:bg>
    <p:spTree>
      <p:nvGrpSpPr>
        <p:cNvPr id="1" name=""/>
        <p:cNvGrpSpPr/>
        <p:nvPr/>
      </p:nvGrpSpPr>
      <p:grpSpPr>
        <a:xfrm>
          <a:off x="0" y="0"/>
          <a:ext cx="0" cy="0"/>
          <a:chOff x="0" y="0"/>
          <a:chExt cx="0" cy="0"/>
        </a:xfrm>
      </p:grpSpPr>
      <p:sp>
        <p:nvSpPr>
          <p:cNvPr id="2" name="Freeform 2"/>
          <p:cNvSpPr/>
          <p:nvPr/>
        </p:nvSpPr>
        <p:spPr>
          <a:xfrm flipH="1" flipV="1">
            <a:off x="13774397" y="-953215"/>
            <a:ext cx="5367418" cy="4715376"/>
          </a:xfrm>
          <a:custGeom>
            <a:avLst/>
            <a:gdLst/>
            <a:ahLst/>
            <a:cxnLst/>
            <a:rect l="l" t="t" r="r" b="b"/>
            <a:pathLst>
              <a:path w="5367418" h="4715376">
                <a:moveTo>
                  <a:pt x="5367418" y="4715376"/>
                </a:moveTo>
                <a:lnTo>
                  <a:pt x="0" y="4715376"/>
                </a:lnTo>
                <a:lnTo>
                  <a:pt x="0" y="0"/>
                </a:lnTo>
                <a:lnTo>
                  <a:pt x="5367418" y="0"/>
                </a:lnTo>
                <a:lnTo>
                  <a:pt x="5367418" y="4715376"/>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1870019" y="6768950"/>
            <a:ext cx="9495039" cy="949503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6" name="Freeform 6"/>
          <p:cNvSpPr/>
          <p:nvPr/>
        </p:nvSpPr>
        <p:spPr>
          <a:xfrm>
            <a:off x="-840825" y="6393809"/>
            <a:ext cx="5367418" cy="4715376"/>
          </a:xfrm>
          <a:custGeom>
            <a:avLst/>
            <a:gdLst/>
            <a:ahLst/>
            <a:cxnLst/>
            <a:rect l="l" t="t" r="r" b="b"/>
            <a:pathLst>
              <a:path w="5367418" h="4715376">
                <a:moveTo>
                  <a:pt x="0" y="0"/>
                </a:moveTo>
                <a:lnTo>
                  <a:pt x="5367418" y="0"/>
                </a:lnTo>
                <a:lnTo>
                  <a:pt x="5367418" y="4715376"/>
                </a:lnTo>
                <a:lnTo>
                  <a:pt x="0" y="471537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a:off x="-5588345" y="-5267224"/>
            <a:ext cx="9495039" cy="949503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10" name="TextBox 10"/>
          <p:cNvSpPr txBox="1"/>
          <p:nvPr/>
        </p:nvSpPr>
        <p:spPr>
          <a:xfrm>
            <a:off x="8102328" y="3177734"/>
            <a:ext cx="9819401" cy="5693866"/>
          </a:xfrm>
          <a:prstGeom prst="rect">
            <a:avLst/>
          </a:prstGeom>
        </p:spPr>
        <p:txBody>
          <a:bodyPr lIns="0" tIns="0" rIns="0" bIns="0" rtlCol="0" anchor="t">
            <a:spAutoFit/>
          </a:bodyPr>
          <a:lstStyle/>
          <a:p>
            <a:pPr>
              <a:lnSpc>
                <a:spcPts val="3739"/>
              </a:lnSpc>
            </a:pPr>
            <a:r>
              <a:rPr lang="en-US" sz="3195" dirty="0">
                <a:latin typeface="Montserrat"/>
              </a:rPr>
              <a:t>AI plays a crucial role in revolutionizing waste management, bringing efficiency, precision, and sustainability to the forefront. From optimizing collection routes to enhancing recycling processes, AI transforms how we handle waste, contributing to a greener and more environmentally conscious approach to managing our resources. Its ability to analyze data, predict maintenance needs, and curb illegal dumping reinforces its significance in reshaping the future of waste management for a healthier planet</a:t>
            </a:r>
            <a:r>
              <a:rPr lang="en-US" sz="3195" dirty="0">
                <a:solidFill>
                  <a:srgbClr val="FFFFFF"/>
                </a:solidFill>
                <a:latin typeface="Montserrat"/>
              </a:rPr>
              <a:t>.</a:t>
            </a:r>
          </a:p>
        </p:txBody>
      </p:sp>
      <p:sp>
        <p:nvSpPr>
          <p:cNvPr id="11" name="TextBox 11"/>
          <p:cNvSpPr txBox="1"/>
          <p:nvPr/>
        </p:nvSpPr>
        <p:spPr>
          <a:xfrm>
            <a:off x="7947609" y="1380122"/>
            <a:ext cx="9311691" cy="978409"/>
          </a:xfrm>
          <a:prstGeom prst="rect">
            <a:avLst/>
          </a:prstGeom>
        </p:spPr>
        <p:txBody>
          <a:bodyPr lIns="0" tIns="0" rIns="0" bIns="0" rtlCol="0" anchor="t">
            <a:spAutoFit/>
          </a:bodyPr>
          <a:lstStyle/>
          <a:p>
            <a:pPr>
              <a:lnSpc>
                <a:spcPts val="6966"/>
              </a:lnSpc>
            </a:pPr>
            <a:r>
              <a:rPr lang="en-US" sz="8600">
                <a:solidFill>
                  <a:srgbClr val="FFFFFF"/>
                </a:solidFill>
                <a:latin typeface="Montserrat Ultra-Bold"/>
              </a:rPr>
              <a:t>Conclusion</a:t>
            </a:r>
          </a:p>
        </p:txBody>
      </p:sp>
      <p:sp>
        <p:nvSpPr>
          <p:cNvPr id="12" name="Freeform 12"/>
          <p:cNvSpPr/>
          <p:nvPr/>
        </p:nvSpPr>
        <p:spPr>
          <a:xfrm>
            <a:off x="8823200" y="7503480"/>
            <a:ext cx="1358588" cy="339647"/>
          </a:xfrm>
          <a:custGeom>
            <a:avLst/>
            <a:gdLst/>
            <a:ahLst/>
            <a:cxnLst/>
            <a:rect l="l" t="t" r="r" b="b"/>
            <a:pathLst>
              <a:path w="1358588" h="339647">
                <a:moveTo>
                  <a:pt x="0" y="0"/>
                </a:moveTo>
                <a:lnTo>
                  <a:pt x="1358588" y="0"/>
                </a:lnTo>
                <a:lnTo>
                  <a:pt x="1358588" y="339647"/>
                </a:lnTo>
                <a:lnTo>
                  <a:pt x="0" y="339647"/>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3074" name="Picture 2" descr="Smart Waste Management Market Outlook to 2025 - Covanta Energy,">
            <a:extLst>
              <a:ext uri="{FF2B5EF4-FFF2-40B4-BE49-F238E27FC236}">
                <a16:creationId xmlns:a16="http://schemas.microsoft.com/office/drawing/2014/main" id="{8C489CA4-497E-4E77-CB85-BBF46D83FE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177732"/>
            <a:ext cx="7929121" cy="56130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6021"/>
        </a:solidFill>
        <a:effectLst/>
      </p:bgPr>
    </p:bg>
    <p:spTree>
      <p:nvGrpSpPr>
        <p:cNvPr id="1" name=""/>
        <p:cNvGrpSpPr/>
        <p:nvPr/>
      </p:nvGrpSpPr>
      <p:grpSpPr>
        <a:xfrm>
          <a:off x="0" y="0"/>
          <a:ext cx="0" cy="0"/>
          <a:chOff x="0" y="0"/>
          <a:chExt cx="0" cy="0"/>
        </a:xfrm>
      </p:grpSpPr>
      <p:sp>
        <p:nvSpPr>
          <p:cNvPr id="2" name="Freeform 2"/>
          <p:cNvSpPr/>
          <p:nvPr/>
        </p:nvSpPr>
        <p:spPr>
          <a:xfrm flipV="1">
            <a:off x="3640956" y="3465297"/>
            <a:ext cx="3197740" cy="3356407"/>
          </a:xfrm>
          <a:custGeom>
            <a:avLst/>
            <a:gdLst/>
            <a:ahLst/>
            <a:cxnLst/>
            <a:rect l="l" t="t" r="r" b="b"/>
            <a:pathLst>
              <a:path w="3197740" h="3356407">
                <a:moveTo>
                  <a:pt x="0" y="3356406"/>
                </a:moveTo>
                <a:lnTo>
                  <a:pt x="3197740" y="3356406"/>
                </a:lnTo>
                <a:lnTo>
                  <a:pt x="3197740" y="0"/>
                </a:lnTo>
                <a:lnTo>
                  <a:pt x="0" y="0"/>
                </a:lnTo>
                <a:lnTo>
                  <a:pt x="0" y="3356406"/>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591338" y="1463647"/>
            <a:ext cx="10275038" cy="1934410"/>
          </a:xfrm>
          <a:prstGeom prst="rect">
            <a:avLst/>
          </a:prstGeom>
        </p:spPr>
        <p:txBody>
          <a:bodyPr lIns="0" tIns="0" rIns="0" bIns="0" rtlCol="0" anchor="t">
            <a:spAutoFit/>
          </a:bodyPr>
          <a:lstStyle/>
          <a:p>
            <a:pPr>
              <a:lnSpc>
                <a:spcPts val="14746"/>
              </a:lnSpc>
            </a:pPr>
            <a:r>
              <a:rPr lang="en-US" sz="14043" spc="-800" dirty="0">
                <a:solidFill>
                  <a:srgbClr val="FFFFFF"/>
                </a:solidFill>
                <a:latin typeface="MingLiU_HKSCS-ExtB" panose="02020500000000000000" pitchFamily="18" charset="-120"/>
                <a:ea typeface="MingLiU_HKSCS-ExtB" panose="02020500000000000000" pitchFamily="18" charset="-120"/>
              </a:rPr>
              <a:t>THANK</a:t>
            </a:r>
            <a:r>
              <a:rPr lang="en-US" sz="14043" spc="-800" dirty="0">
                <a:solidFill>
                  <a:srgbClr val="FFFFFF"/>
                </a:solidFill>
                <a:latin typeface="Montserrat Ultra-Bold"/>
              </a:rPr>
              <a:t> YOU</a:t>
            </a:r>
          </a:p>
        </p:txBody>
      </p:sp>
      <p:grpSp>
        <p:nvGrpSpPr>
          <p:cNvPr id="4" name="Group 4"/>
          <p:cNvGrpSpPr/>
          <p:nvPr/>
        </p:nvGrpSpPr>
        <p:grpSpPr>
          <a:xfrm>
            <a:off x="11870019" y="6768950"/>
            <a:ext cx="9495039" cy="949503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grpSp>
        <p:nvGrpSpPr>
          <p:cNvPr id="7" name="Group 7"/>
          <p:cNvGrpSpPr/>
          <p:nvPr/>
        </p:nvGrpSpPr>
        <p:grpSpPr>
          <a:xfrm>
            <a:off x="-2656342" y="-4747519"/>
            <a:ext cx="9495039" cy="949503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alpha val="17647"/>
                </a:srgbClr>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3499"/>
                </a:lnSpc>
              </a:pPr>
              <a:endParaRPr/>
            </a:p>
          </p:txBody>
        </p:sp>
      </p:grpSp>
      <p:sp>
        <p:nvSpPr>
          <p:cNvPr id="10" name="Freeform 10"/>
          <p:cNvSpPr/>
          <p:nvPr/>
        </p:nvSpPr>
        <p:spPr>
          <a:xfrm>
            <a:off x="1028700" y="1028700"/>
            <a:ext cx="1358588" cy="339647"/>
          </a:xfrm>
          <a:custGeom>
            <a:avLst/>
            <a:gdLst/>
            <a:ahLst/>
            <a:cxnLst/>
            <a:rect l="l" t="t" r="r" b="b"/>
            <a:pathLst>
              <a:path w="1358588" h="339647">
                <a:moveTo>
                  <a:pt x="0" y="0"/>
                </a:moveTo>
                <a:lnTo>
                  <a:pt x="1358588" y="0"/>
                </a:lnTo>
                <a:lnTo>
                  <a:pt x="1358588" y="339647"/>
                </a:lnTo>
                <a:lnTo>
                  <a:pt x="0" y="3396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15900712" y="8918653"/>
            <a:ext cx="1358588" cy="339647"/>
          </a:xfrm>
          <a:custGeom>
            <a:avLst/>
            <a:gdLst/>
            <a:ahLst/>
            <a:cxnLst/>
            <a:rect l="l" t="t" r="r" b="b"/>
            <a:pathLst>
              <a:path w="1358588" h="339647">
                <a:moveTo>
                  <a:pt x="0" y="0"/>
                </a:moveTo>
                <a:lnTo>
                  <a:pt x="1358588" y="0"/>
                </a:lnTo>
                <a:lnTo>
                  <a:pt x="1358588" y="339647"/>
                </a:lnTo>
                <a:lnTo>
                  <a:pt x="0" y="33964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787272" y="6505235"/>
            <a:ext cx="4919488" cy="6113833"/>
            <a:chOff x="0" y="0"/>
            <a:chExt cx="5108702" cy="6348984"/>
          </a:xfrm>
        </p:grpSpPr>
        <p:sp>
          <p:nvSpPr>
            <p:cNvPr id="13" name="Freeform 13"/>
            <p:cNvSpPr/>
            <p:nvPr/>
          </p:nvSpPr>
          <p:spPr>
            <a:xfrm>
              <a:off x="0" y="0"/>
              <a:ext cx="5108702" cy="6348984"/>
            </a:xfrm>
            <a:custGeom>
              <a:avLst/>
              <a:gdLst/>
              <a:ahLst/>
              <a:cxnLst/>
              <a:rect l="l" t="t" r="r" b="b"/>
              <a:pathLst>
                <a:path w="5108702" h="6348984">
                  <a:moveTo>
                    <a:pt x="5108702" y="2554351"/>
                  </a:moveTo>
                  <a:lnTo>
                    <a:pt x="5108702" y="3794506"/>
                  </a:lnTo>
                  <a:cubicBezTo>
                    <a:pt x="5108702" y="5205222"/>
                    <a:pt x="3965067" y="6348857"/>
                    <a:pt x="2554351" y="6348857"/>
                  </a:cubicBezTo>
                  <a:cubicBezTo>
                    <a:pt x="1143635" y="6348984"/>
                    <a:pt x="0" y="5205349"/>
                    <a:pt x="0" y="3794506"/>
                  </a:cubicBezTo>
                  <a:lnTo>
                    <a:pt x="0" y="2554351"/>
                  </a:lnTo>
                  <a:cubicBezTo>
                    <a:pt x="0" y="1143635"/>
                    <a:pt x="1143635" y="0"/>
                    <a:pt x="2554351" y="0"/>
                  </a:cubicBezTo>
                  <a:cubicBezTo>
                    <a:pt x="3965067" y="0"/>
                    <a:pt x="5108702" y="1143635"/>
                    <a:pt x="5108702" y="2554351"/>
                  </a:cubicBezTo>
                  <a:close/>
                </a:path>
              </a:pathLst>
            </a:custGeom>
            <a:blipFill>
              <a:blip r:embed="rId4"/>
              <a:stretch>
                <a:fillRect l="-16763" r="-69765"/>
              </a:stretch>
            </a:blipFill>
          </p:spPr>
        </p:sp>
      </p:grpSp>
      <p:grpSp>
        <p:nvGrpSpPr>
          <p:cNvPr id="14" name="Group 14"/>
          <p:cNvGrpSpPr/>
          <p:nvPr/>
        </p:nvGrpSpPr>
        <p:grpSpPr>
          <a:xfrm>
            <a:off x="11870019" y="-2306895"/>
            <a:ext cx="4919488" cy="6113833"/>
            <a:chOff x="0" y="0"/>
            <a:chExt cx="5108702" cy="6348984"/>
          </a:xfrm>
        </p:grpSpPr>
        <p:sp>
          <p:nvSpPr>
            <p:cNvPr id="15" name="Freeform 15"/>
            <p:cNvSpPr/>
            <p:nvPr/>
          </p:nvSpPr>
          <p:spPr>
            <a:xfrm>
              <a:off x="0" y="0"/>
              <a:ext cx="5108702" cy="6348984"/>
            </a:xfrm>
            <a:custGeom>
              <a:avLst/>
              <a:gdLst/>
              <a:ahLst/>
              <a:cxnLst/>
              <a:rect l="l" t="t" r="r" b="b"/>
              <a:pathLst>
                <a:path w="5108702" h="6348984">
                  <a:moveTo>
                    <a:pt x="5108702" y="2554351"/>
                  </a:moveTo>
                  <a:lnTo>
                    <a:pt x="5108702" y="3794506"/>
                  </a:lnTo>
                  <a:cubicBezTo>
                    <a:pt x="5108702" y="5205222"/>
                    <a:pt x="3965067" y="6348857"/>
                    <a:pt x="2554351" y="6348857"/>
                  </a:cubicBezTo>
                  <a:cubicBezTo>
                    <a:pt x="1143635" y="6348984"/>
                    <a:pt x="0" y="5205349"/>
                    <a:pt x="0" y="3794506"/>
                  </a:cubicBezTo>
                  <a:lnTo>
                    <a:pt x="0" y="2554351"/>
                  </a:lnTo>
                  <a:cubicBezTo>
                    <a:pt x="0" y="1143635"/>
                    <a:pt x="1143635" y="0"/>
                    <a:pt x="2554351" y="0"/>
                  </a:cubicBezTo>
                  <a:cubicBezTo>
                    <a:pt x="3965067" y="0"/>
                    <a:pt x="5108702" y="1143635"/>
                    <a:pt x="5108702" y="2554351"/>
                  </a:cubicBezTo>
                  <a:close/>
                </a:path>
              </a:pathLst>
            </a:custGeom>
            <a:blipFill>
              <a:blip r:embed="rId5"/>
              <a:stretch>
                <a:fillRect l="-43090" r="-43090"/>
              </a:stretch>
            </a:blipFill>
          </p:spPr>
        </p:sp>
      </p:grpSp>
      <p:grpSp>
        <p:nvGrpSpPr>
          <p:cNvPr id="16" name="Group 16"/>
          <p:cNvGrpSpPr/>
          <p:nvPr/>
        </p:nvGrpSpPr>
        <p:grpSpPr>
          <a:xfrm>
            <a:off x="6838696" y="6768950"/>
            <a:ext cx="4232722" cy="736668"/>
            <a:chOff x="0" y="0"/>
            <a:chExt cx="2335079" cy="406400"/>
          </a:xfrm>
        </p:grpSpPr>
        <p:sp>
          <p:nvSpPr>
            <p:cNvPr id="17" name="Freeform 17"/>
            <p:cNvSpPr/>
            <p:nvPr/>
          </p:nvSpPr>
          <p:spPr>
            <a:xfrm>
              <a:off x="0" y="0"/>
              <a:ext cx="2335079" cy="406400"/>
            </a:xfrm>
            <a:custGeom>
              <a:avLst/>
              <a:gdLst/>
              <a:ahLst/>
              <a:cxnLst/>
              <a:rect l="l" t="t" r="r" b="b"/>
              <a:pathLst>
                <a:path w="2335079" h="406400">
                  <a:moveTo>
                    <a:pt x="2131879" y="0"/>
                  </a:moveTo>
                  <a:cubicBezTo>
                    <a:pt x="2244103" y="0"/>
                    <a:pt x="2335079" y="90976"/>
                    <a:pt x="2335079" y="203200"/>
                  </a:cubicBezTo>
                  <a:cubicBezTo>
                    <a:pt x="2335079" y="315424"/>
                    <a:pt x="2244103" y="406400"/>
                    <a:pt x="2131879"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18" name="TextBox 18"/>
            <p:cNvSpPr txBox="1"/>
            <p:nvPr/>
          </p:nvSpPr>
          <p:spPr>
            <a:xfrm>
              <a:off x="0" y="-38100"/>
              <a:ext cx="2335079" cy="444500"/>
            </a:xfrm>
            <a:prstGeom prst="rect">
              <a:avLst/>
            </a:prstGeom>
          </p:spPr>
          <p:txBody>
            <a:bodyPr lIns="50800" tIns="50800" rIns="50800" bIns="50800" rtlCol="0" anchor="ctr"/>
            <a:lstStyle/>
            <a:p>
              <a:pPr algn="ctr">
                <a:lnSpc>
                  <a:spcPts val="3499"/>
                </a:lnSpc>
              </a:pPr>
              <a:r>
                <a:rPr lang="en-US" sz="2499">
                  <a:solidFill>
                    <a:srgbClr val="F56021"/>
                  </a:solidFill>
                  <a:latin typeface="Montserrat Medium"/>
                </a:rPr>
                <a:t>group 2</a:t>
              </a:r>
            </a:p>
          </p:txBody>
        </p:sp>
      </p:grpSp>
      <p:pic>
        <p:nvPicPr>
          <p:cNvPr id="4098" name="Picture 2" descr="Trash Analytics [GIF] by Dave Chenell on Dribbble">
            <a:extLst>
              <a:ext uri="{FF2B5EF4-FFF2-40B4-BE49-F238E27FC236}">
                <a16:creationId xmlns:a16="http://schemas.microsoft.com/office/drawing/2014/main" id="{A91B2961-BC63-E610-3483-28C68F680A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1047" y="3543300"/>
            <a:ext cx="10858459" cy="66388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65</TotalTime>
  <Words>1026</Words>
  <Application>Microsoft Office PowerPoint</Application>
  <PresentationFormat>Custom</PresentationFormat>
  <Paragraphs>88</Paragraphs>
  <Slides>10</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10</vt:i4>
      </vt:variant>
    </vt:vector>
  </HeadingPairs>
  <TitlesOfParts>
    <vt:vector size="23" baseType="lpstr">
      <vt:lpstr>Montserrat Ultra-Bold</vt:lpstr>
      <vt:lpstr>Trebuchet MS Bold</vt:lpstr>
      <vt:lpstr>Arimo</vt:lpstr>
      <vt:lpstr>Montserrat</vt:lpstr>
      <vt:lpstr>Montserrat Medium</vt:lpstr>
      <vt:lpstr>Microsoft Sans Serif</vt:lpstr>
      <vt:lpstr>Arimo Bold</vt:lpstr>
      <vt:lpstr>Arial</vt:lpstr>
      <vt:lpstr>Trebuchet MS Bold Italics</vt:lpstr>
      <vt:lpstr>MingLiU_HKSCS-ExtB</vt:lpstr>
      <vt:lpstr>Arimo Bold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Development-of-technology-solution-to-reduce-post-harvest-losses MID 2 TERM.pptx</dc:title>
  <dc:creator>user</dc:creator>
  <cp:lastModifiedBy>deepanshu manghnani</cp:lastModifiedBy>
  <cp:revision>4</cp:revision>
  <dcterms:created xsi:type="dcterms:W3CDTF">2006-08-16T00:00:00Z</dcterms:created>
  <dcterms:modified xsi:type="dcterms:W3CDTF">2026-10-16T17:11:22Z</dcterms:modified>
  <dc:identifier>DAF5BElLAug</dc:identifier>
</cp:coreProperties>
</file>